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10287000" cx="18288000"/>
  <p:notesSz cx="6858000" cy="9144000"/>
  <p:embeddedFontLst>
    <p:embeddedFont>
      <p:font typeface="Anton"/>
      <p:regular r:id="rId19"/>
    </p:embeddedFont>
    <p:embeddedFont>
      <p:font typeface="Poppins"/>
      <p:bold r:id="rId20"/>
      <p:boldItalic r:id="rId21"/>
    </p:embeddedFont>
    <p:embeddedFont>
      <p:font typeface="Poppins Medium"/>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BBCC3D-812B-48C3-B6C7-5B41C7B5152E}">
  <a:tblStyle styleId="{97BBCC3D-812B-48C3-B6C7-5B41C7B515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B5346E1-113A-43CB-8332-7ED7E3ED4B3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Medium-regular.fntdata"/><Relationship Id="rId21" Type="http://schemas.openxmlformats.org/officeDocument/2006/relationships/font" Target="fonts/Poppins-boldItalic.fntdata"/><Relationship Id="rId24" Type="http://schemas.openxmlformats.org/officeDocument/2006/relationships/font" Target="fonts/PoppinsMedium-italic.fntdata"/><Relationship Id="rId23" Type="http://schemas.openxmlformats.org/officeDocument/2006/relationships/font" Target="fonts/Poppins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Poppins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Anton-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a1bd1d22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8a1bd1d22a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10e4686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d10e4686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5466e12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d5466e12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3e8ffdf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c3e8ffdfab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a1bd1d22a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8a1bd1d22a_0_4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79909bc67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c79909bc67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10e46860c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d10e46860c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79909b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c79909bc6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10e46860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d10e46860c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892fb24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c892fb245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10e46860c_1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g3d10e46860c_1_4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a1bd1d22a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8a1bd1d22a_0_8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Slide">
  <p:cSld name="14_Title Slide">
    <p:spTree>
      <p:nvGrpSpPr>
        <p:cNvPr id="80" name="Shape 80"/>
        <p:cNvGrpSpPr/>
        <p:nvPr/>
      </p:nvGrpSpPr>
      <p:grpSpPr>
        <a:xfrm>
          <a:off x="0" y="0"/>
          <a:ext cx="0" cy="0"/>
          <a:chOff x="0" y="0"/>
          <a:chExt cx="0" cy="0"/>
        </a:xfrm>
      </p:grpSpPr>
      <p:sp>
        <p:nvSpPr>
          <p:cNvPr id="81" name="Google Shape;81;p13"/>
          <p:cNvSpPr/>
          <p:nvPr>
            <p:ph idx="2" type="pic"/>
          </p:nvPr>
        </p:nvSpPr>
        <p:spPr>
          <a:xfrm>
            <a:off x="815009" y="6579705"/>
            <a:ext cx="16672800" cy="3078600"/>
          </a:xfrm>
          <a:prstGeom prst="rect">
            <a:avLst/>
          </a:prstGeom>
          <a:solidFill>
            <a:srgbClr val="F2F2F2"/>
          </a:solidFill>
          <a:ln>
            <a:noFill/>
          </a:ln>
        </p:spPr>
      </p:sp>
    </p:spTree>
  </p:cSld>
  <p:clrMapOvr>
    <a:masterClrMapping/>
  </p:clrMapOvr>
  <p:extLst>
    <p:ext uri="{DCECCB84-F9BA-43D5-87BE-67443E8EF086}">
      <p15:sldGuideLst>
        <p15:guide id="1" pos="936">
          <p15:clr>
            <a:srgbClr val="FBAE40"/>
          </p15:clr>
        </p15:guide>
        <p15:guide id="2" pos="10584">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8.png"/><Relationship Id="rId12"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4.jpg"/><Relationship Id="rId9" Type="http://schemas.openxmlformats.org/officeDocument/2006/relationships/image" Target="../media/image13.jpg"/><Relationship Id="rId5" Type="http://schemas.openxmlformats.org/officeDocument/2006/relationships/image" Target="../media/image39.png"/><Relationship Id="rId6" Type="http://schemas.openxmlformats.org/officeDocument/2006/relationships/image" Target="../media/image5.jpg"/><Relationship Id="rId7" Type="http://schemas.openxmlformats.org/officeDocument/2006/relationships/image" Target="../media/image10.png"/><Relationship Id="rId8" Type="http://schemas.openxmlformats.org/officeDocument/2006/relationships/image" Target="../media/image9.jpg"/></Relationships>
</file>

<file path=ppt/slides/_rels/slide2.xml.rels><?xml version="1.0" encoding="UTF-8" standalone="yes"?><Relationships xmlns="http://schemas.openxmlformats.org/package/2006/relationships"><Relationship Id="rId20" Type="http://schemas.openxmlformats.org/officeDocument/2006/relationships/image" Target="../media/image21.png"/><Relationship Id="rId22" Type="http://schemas.openxmlformats.org/officeDocument/2006/relationships/image" Target="../media/image30.png"/><Relationship Id="rId21" Type="http://schemas.openxmlformats.org/officeDocument/2006/relationships/image" Target="../media/image37.png"/><Relationship Id="rId24" Type="http://schemas.openxmlformats.org/officeDocument/2006/relationships/image" Target="../media/image34.png"/><Relationship Id="rId23" Type="http://schemas.openxmlformats.org/officeDocument/2006/relationships/image" Target="../media/image40.jpg"/><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www.volt.africa" TargetMode="External"/><Relationship Id="rId4" Type="http://schemas.openxmlformats.org/officeDocument/2006/relationships/image" Target="../media/image18.png"/><Relationship Id="rId9" Type="http://schemas.openxmlformats.org/officeDocument/2006/relationships/image" Target="../media/image11.jpg"/><Relationship Id="rId26" Type="http://schemas.openxmlformats.org/officeDocument/2006/relationships/image" Target="../media/image36.png"/><Relationship Id="rId25" Type="http://schemas.openxmlformats.org/officeDocument/2006/relationships/image" Target="../media/image28.png"/><Relationship Id="rId28" Type="http://schemas.openxmlformats.org/officeDocument/2006/relationships/image" Target="../media/image1.png"/><Relationship Id="rId27" Type="http://schemas.openxmlformats.org/officeDocument/2006/relationships/image" Target="../media/image38.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23.png"/><Relationship Id="rId8" Type="http://schemas.openxmlformats.org/officeDocument/2006/relationships/image" Target="../media/image25.png"/><Relationship Id="rId11" Type="http://schemas.openxmlformats.org/officeDocument/2006/relationships/image" Target="../media/image4.png"/><Relationship Id="rId10" Type="http://schemas.openxmlformats.org/officeDocument/2006/relationships/image" Target="../media/image6.jpg"/><Relationship Id="rId13" Type="http://schemas.openxmlformats.org/officeDocument/2006/relationships/image" Target="../media/image17.png"/><Relationship Id="rId12" Type="http://schemas.openxmlformats.org/officeDocument/2006/relationships/image" Target="../media/image16.png"/><Relationship Id="rId15" Type="http://schemas.openxmlformats.org/officeDocument/2006/relationships/image" Target="../media/image32.png"/><Relationship Id="rId14" Type="http://schemas.openxmlformats.org/officeDocument/2006/relationships/image" Target="../media/image12.png"/><Relationship Id="rId17" Type="http://schemas.openxmlformats.org/officeDocument/2006/relationships/image" Target="../media/image31.png"/><Relationship Id="rId16" Type="http://schemas.openxmlformats.org/officeDocument/2006/relationships/image" Target="../media/image26.png"/><Relationship Id="rId19" Type="http://schemas.openxmlformats.org/officeDocument/2006/relationships/image" Target="../media/image22.png"/><Relationship Id="rId18"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3.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image" Target="../media/image35.png"/><Relationship Id="rId8" Type="http://schemas.openxmlformats.org/officeDocument/2006/relationships/image" Target="../media/image44.png"/><Relationship Id="rId11" Type="http://schemas.openxmlformats.org/officeDocument/2006/relationships/image" Target="../media/image45.png"/><Relationship Id="rId10" Type="http://schemas.openxmlformats.org/officeDocument/2006/relationships/image" Target="../media/image27.png"/><Relationship Id="rId13" Type="http://schemas.openxmlformats.org/officeDocument/2006/relationships/image" Target="../media/image48.png"/><Relationship Id="rId12" Type="http://schemas.openxmlformats.org/officeDocument/2006/relationships/image" Target="../media/image42.png"/><Relationship Id="rId15" Type="http://schemas.openxmlformats.org/officeDocument/2006/relationships/image" Target="../media/image51.png"/><Relationship Id="rId14" Type="http://schemas.openxmlformats.org/officeDocument/2006/relationships/image" Target="../media/image47.png"/><Relationship Id="rId17" Type="http://schemas.openxmlformats.org/officeDocument/2006/relationships/image" Target="../media/image50.png"/><Relationship Id="rId16" Type="http://schemas.openxmlformats.org/officeDocument/2006/relationships/image" Target="../media/image46.png"/><Relationship Id="rId19" Type="http://schemas.openxmlformats.org/officeDocument/2006/relationships/image" Target="../media/image1.png"/><Relationship Id="rId18" Type="http://schemas.openxmlformats.org/officeDocument/2006/relationships/hyperlink" Target="http://www.volt.afric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www.volt.africa" TargetMode="External"/><Relationship Id="rId4" Type="http://schemas.openxmlformats.org/officeDocument/2006/relationships/image" Target="../media/image1.png"/><Relationship Id="rId5" Type="http://schemas.openxmlformats.org/officeDocument/2006/relationships/image" Target="../media/image52.png"/><Relationship Id="rId6" Type="http://schemas.openxmlformats.org/officeDocument/2006/relationships/image" Target="../media/image4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www.volt.africa"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4"/>
          <p:cNvSpPr txBox="1"/>
          <p:nvPr/>
        </p:nvSpPr>
        <p:spPr>
          <a:xfrm>
            <a:off x="245796" y="5034882"/>
            <a:ext cx="14409000" cy="2524500"/>
          </a:xfrm>
          <a:prstGeom prst="rect">
            <a:avLst/>
          </a:prstGeom>
          <a:noFill/>
          <a:ln>
            <a:noFill/>
          </a:ln>
        </p:spPr>
        <p:txBody>
          <a:bodyPr anchorCtr="0" anchor="t" bIns="0" lIns="0" spcFirstLastPara="1" rIns="0" wrap="square" tIns="0">
            <a:spAutoFit/>
          </a:bodyPr>
          <a:lstStyle/>
          <a:p>
            <a:pPr indent="0" lvl="0" marL="0" marR="0" rtl="0" algn="l">
              <a:lnSpc>
                <a:spcPct val="82001"/>
              </a:lnSpc>
              <a:spcBef>
                <a:spcPts val="0"/>
              </a:spcBef>
              <a:spcAft>
                <a:spcPts val="0"/>
              </a:spcAft>
              <a:buNone/>
            </a:pPr>
            <a:r>
              <a:rPr i="0" lang="en-US" sz="20000" u="none" cap="none" strike="noStrike">
                <a:solidFill>
                  <a:srgbClr val="002C5C"/>
                </a:solidFill>
                <a:latin typeface="Anton"/>
                <a:ea typeface="Anton"/>
                <a:cs typeface="Anton"/>
                <a:sym typeface="Anton"/>
              </a:rPr>
              <a:t>PROPOSAL</a:t>
            </a:r>
            <a:endParaRPr sz="20000">
              <a:solidFill>
                <a:srgbClr val="002C5C"/>
              </a:solidFill>
              <a:latin typeface="Anton"/>
              <a:ea typeface="Anton"/>
              <a:cs typeface="Anton"/>
              <a:sym typeface="Anton"/>
            </a:endParaRPr>
          </a:p>
        </p:txBody>
      </p:sp>
      <p:sp>
        <p:nvSpPr>
          <p:cNvPr id="87" name="Google Shape;87;p14"/>
          <p:cNvSpPr txBox="1"/>
          <p:nvPr/>
        </p:nvSpPr>
        <p:spPr>
          <a:xfrm>
            <a:off x="365115" y="3816021"/>
            <a:ext cx="4318800" cy="820200"/>
          </a:xfrm>
          <a:prstGeom prst="rect">
            <a:avLst/>
          </a:prstGeom>
          <a:noFill/>
          <a:ln>
            <a:noFill/>
          </a:ln>
        </p:spPr>
        <p:txBody>
          <a:bodyPr anchorCtr="0" anchor="t" bIns="0" lIns="0" spcFirstLastPara="1" rIns="0" wrap="square" tIns="0">
            <a:spAutoFit/>
          </a:bodyPr>
          <a:lstStyle/>
          <a:p>
            <a:pPr indent="0" lvl="0" marL="0" marR="0" rtl="0" algn="l">
              <a:lnSpc>
                <a:spcPct val="82007"/>
              </a:lnSpc>
              <a:spcBef>
                <a:spcPts val="0"/>
              </a:spcBef>
              <a:spcAft>
                <a:spcPts val="0"/>
              </a:spcAft>
              <a:buNone/>
            </a:pPr>
            <a:r>
              <a:rPr b="1" i="0" lang="en-US" sz="6497" u="none" cap="none" strike="noStrike">
                <a:solidFill>
                  <a:srgbClr val="888888"/>
                </a:solidFill>
                <a:latin typeface="Poppins"/>
                <a:ea typeface="Poppins"/>
                <a:cs typeface="Poppins"/>
                <a:sym typeface="Poppins"/>
              </a:rPr>
              <a:t>BUSINESS</a:t>
            </a:r>
            <a:endParaRPr>
              <a:solidFill>
                <a:srgbClr val="888888"/>
              </a:solidFill>
            </a:endParaRPr>
          </a:p>
        </p:txBody>
      </p:sp>
      <p:sp>
        <p:nvSpPr>
          <p:cNvPr id="88" name="Google Shape;88;p14"/>
          <p:cNvSpPr txBox="1"/>
          <p:nvPr/>
        </p:nvSpPr>
        <p:spPr>
          <a:xfrm>
            <a:off x="13211251" y="6305725"/>
            <a:ext cx="4642800" cy="517200"/>
          </a:xfrm>
          <a:prstGeom prst="rect">
            <a:avLst/>
          </a:prstGeom>
          <a:noFill/>
          <a:ln>
            <a:noFill/>
          </a:ln>
        </p:spPr>
        <p:txBody>
          <a:bodyPr anchorCtr="0" anchor="t" bIns="0" lIns="0" spcFirstLastPara="1" rIns="0" wrap="square" tIns="0">
            <a:spAutoFit/>
          </a:bodyPr>
          <a:lstStyle/>
          <a:p>
            <a:pPr indent="0" lvl="0" marL="0" marR="0" rtl="0" algn="l">
              <a:lnSpc>
                <a:spcPct val="82007"/>
              </a:lnSpc>
              <a:spcBef>
                <a:spcPts val="0"/>
              </a:spcBef>
              <a:spcAft>
                <a:spcPts val="0"/>
              </a:spcAft>
              <a:buNone/>
            </a:pPr>
            <a:r>
              <a:rPr b="1" lang="en-US" sz="4097">
                <a:solidFill>
                  <a:srgbClr val="002C5C"/>
                </a:solidFill>
                <a:latin typeface="Poppins"/>
                <a:ea typeface="Poppins"/>
                <a:cs typeface="Poppins"/>
                <a:sym typeface="Poppins"/>
              </a:rPr>
              <a:t>{{Client Name}}                                                                 </a:t>
            </a:r>
            <a:endParaRPr sz="100">
              <a:solidFill>
                <a:srgbClr val="002C5C"/>
              </a:solidFill>
            </a:endParaRPr>
          </a:p>
        </p:txBody>
      </p:sp>
      <p:pic>
        <p:nvPicPr>
          <p:cNvPr id="89" name="Google Shape;89;p14"/>
          <p:cNvPicPr preferRelativeResize="0"/>
          <p:nvPr/>
        </p:nvPicPr>
        <p:blipFill rotWithShape="1">
          <a:blip r:embed="rId3">
            <a:alphaModFix/>
          </a:blip>
          <a:srcRect b="0" l="0" r="0" t="0"/>
          <a:stretch/>
        </p:blipFill>
        <p:spPr>
          <a:xfrm>
            <a:off x="241374" y="671344"/>
            <a:ext cx="3965101" cy="745625"/>
          </a:xfrm>
          <a:prstGeom prst="rect">
            <a:avLst/>
          </a:prstGeom>
          <a:noFill/>
          <a:ln>
            <a:noFill/>
          </a:ln>
        </p:spPr>
      </p:pic>
      <p:grpSp>
        <p:nvGrpSpPr>
          <p:cNvPr id="90" name="Google Shape;90;p14"/>
          <p:cNvGrpSpPr/>
          <p:nvPr/>
        </p:nvGrpSpPr>
        <p:grpSpPr>
          <a:xfrm>
            <a:off x="-203652" y="7968375"/>
            <a:ext cx="18640587" cy="2039112"/>
            <a:chOff x="0" y="0"/>
            <a:chExt cx="24673179" cy="2718816"/>
          </a:xfrm>
        </p:grpSpPr>
        <p:sp>
          <p:nvSpPr>
            <p:cNvPr id="91" name="Google Shape;91;p14"/>
            <p:cNvSpPr/>
            <p:nvPr/>
          </p:nvSpPr>
          <p:spPr>
            <a:xfrm>
              <a:off x="25400" y="25400"/>
              <a:ext cx="24622379" cy="2668016"/>
            </a:xfrm>
            <a:custGeom>
              <a:rect b="b" l="l" r="r" t="t"/>
              <a:pathLst>
                <a:path extrusionOk="0" h="2668016" w="24622379">
                  <a:moveTo>
                    <a:pt x="0" y="0"/>
                  </a:moveTo>
                  <a:lnTo>
                    <a:pt x="24622379" y="0"/>
                  </a:lnTo>
                  <a:lnTo>
                    <a:pt x="24622379" y="2668016"/>
                  </a:lnTo>
                  <a:lnTo>
                    <a:pt x="0" y="2668016"/>
                  </a:lnTo>
                  <a:close/>
                </a:path>
              </a:pathLst>
            </a:custGeom>
            <a:solidFill>
              <a:srgbClr val="FFFFFF"/>
            </a:solidFill>
            <a:ln>
              <a:noFill/>
            </a:ln>
          </p:spPr>
        </p:sp>
        <p:sp>
          <p:nvSpPr>
            <p:cNvPr id="92" name="Google Shape;92;p14"/>
            <p:cNvSpPr/>
            <p:nvPr/>
          </p:nvSpPr>
          <p:spPr>
            <a:xfrm>
              <a:off x="0" y="0"/>
              <a:ext cx="24673179" cy="2718816"/>
            </a:xfrm>
            <a:custGeom>
              <a:rect b="b" l="l" r="r" t="t"/>
              <a:pathLst>
                <a:path extrusionOk="0" h="2718816" w="24673179">
                  <a:moveTo>
                    <a:pt x="25400" y="0"/>
                  </a:moveTo>
                  <a:lnTo>
                    <a:pt x="24647779" y="0"/>
                  </a:lnTo>
                  <a:cubicBezTo>
                    <a:pt x="24661749" y="0"/>
                    <a:pt x="24673179" y="11430"/>
                    <a:pt x="24673179" y="25400"/>
                  </a:cubicBezTo>
                  <a:lnTo>
                    <a:pt x="24673179" y="2693416"/>
                  </a:lnTo>
                  <a:cubicBezTo>
                    <a:pt x="24673179" y="2707386"/>
                    <a:pt x="24661749" y="2718816"/>
                    <a:pt x="24647779" y="2718816"/>
                  </a:cubicBezTo>
                  <a:lnTo>
                    <a:pt x="25400" y="2718816"/>
                  </a:lnTo>
                  <a:cubicBezTo>
                    <a:pt x="11430" y="2718816"/>
                    <a:pt x="0" y="2707386"/>
                    <a:pt x="0" y="2693416"/>
                  </a:cubicBezTo>
                  <a:lnTo>
                    <a:pt x="0" y="25400"/>
                  </a:lnTo>
                  <a:cubicBezTo>
                    <a:pt x="0" y="11430"/>
                    <a:pt x="11430" y="0"/>
                    <a:pt x="25400" y="0"/>
                  </a:cubicBezTo>
                  <a:moveTo>
                    <a:pt x="25400" y="50800"/>
                  </a:moveTo>
                  <a:lnTo>
                    <a:pt x="25400" y="25400"/>
                  </a:lnTo>
                  <a:lnTo>
                    <a:pt x="50800" y="25400"/>
                  </a:lnTo>
                  <a:lnTo>
                    <a:pt x="50800" y="2693416"/>
                  </a:lnTo>
                  <a:lnTo>
                    <a:pt x="25400" y="2693416"/>
                  </a:lnTo>
                  <a:lnTo>
                    <a:pt x="25400" y="2668016"/>
                  </a:lnTo>
                  <a:lnTo>
                    <a:pt x="24647779" y="2668016"/>
                  </a:lnTo>
                  <a:lnTo>
                    <a:pt x="24647779" y="2693416"/>
                  </a:lnTo>
                  <a:lnTo>
                    <a:pt x="24622379" y="2693416"/>
                  </a:lnTo>
                  <a:lnTo>
                    <a:pt x="24622379" y="25400"/>
                  </a:lnTo>
                  <a:lnTo>
                    <a:pt x="24647779" y="25400"/>
                  </a:lnTo>
                  <a:lnTo>
                    <a:pt x="24647779" y="50800"/>
                  </a:lnTo>
                  <a:lnTo>
                    <a:pt x="25400" y="5080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14"/>
          <p:cNvSpPr/>
          <p:nvPr/>
        </p:nvSpPr>
        <p:spPr>
          <a:xfrm>
            <a:off x="108823" y="8775934"/>
            <a:ext cx="731996" cy="527018"/>
          </a:xfrm>
          <a:custGeom>
            <a:rect b="b" l="l" r="r" t="t"/>
            <a:pathLst>
              <a:path extrusionOk="0" h="702691" w="975995">
                <a:moveTo>
                  <a:pt x="0" y="0"/>
                </a:moveTo>
                <a:lnTo>
                  <a:pt x="975995" y="0"/>
                </a:lnTo>
                <a:lnTo>
                  <a:pt x="975995" y="702691"/>
                </a:lnTo>
                <a:lnTo>
                  <a:pt x="0" y="702691"/>
                </a:lnTo>
                <a:lnTo>
                  <a:pt x="0" y="0"/>
                </a:lnTo>
                <a:close/>
              </a:path>
            </a:pathLst>
          </a:custGeom>
          <a:blipFill rotWithShape="1">
            <a:blip r:embed="rId4">
              <a:alphaModFix/>
            </a:blip>
            <a:stretch>
              <a:fillRect b="-850" l="0" r="0" t="0"/>
            </a:stretch>
          </a:blipFill>
          <a:ln>
            <a:noFill/>
          </a:ln>
        </p:spPr>
      </p:sp>
      <p:sp>
        <p:nvSpPr>
          <p:cNvPr id="94" name="Google Shape;94;p14"/>
          <p:cNvSpPr/>
          <p:nvPr/>
        </p:nvSpPr>
        <p:spPr>
          <a:xfrm>
            <a:off x="3691429" y="8790636"/>
            <a:ext cx="2097214" cy="527018"/>
          </a:xfrm>
          <a:custGeom>
            <a:rect b="b" l="l" r="r" t="t"/>
            <a:pathLst>
              <a:path extrusionOk="0" h="702691" w="2796286">
                <a:moveTo>
                  <a:pt x="0" y="0"/>
                </a:moveTo>
                <a:lnTo>
                  <a:pt x="2796286" y="0"/>
                </a:lnTo>
                <a:lnTo>
                  <a:pt x="2796286" y="702691"/>
                </a:lnTo>
                <a:lnTo>
                  <a:pt x="0" y="702691"/>
                </a:lnTo>
                <a:lnTo>
                  <a:pt x="0" y="0"/>
                </a:lnTo>
                <a:close/>
              </a:path>
            </a:pathLst>
          </a:custGeom>
          <a:blipFill rotWithShape="1">
            <a:blip r:embed="rId5">
              <a:alphaModFix/>
            </a:blip>
            <a:stretch>
              <a:fillRect b="-1031" l="0" r="0" t="0"/>
            </a:stretch>
          </a:blipFill>
          <a:ln>
            <a:noFill/>
          </a:ln>
        </p:spPr>
      </p:sp>
      <p:sp>
        <p:nvSpPr>
          <p:cNvPr id="95" name="Google Shape;95;p14"/>
          <p:cNvSpPr/>
          <p:nvPr/>
        </p:nvSpPr>
        <p:spPr>
          <a:xfrm>
            <a:off x="1077075" y="8841016"/>
            <a:ext cx="2407444" cy="396812"/>
          </a:xfrm>
          <a:custGeom>
            <a:rect b="b" l="l" r="r" t="t"/>
            <a:pathLst>
              <a:path extrusionOk="0" h="529082" w="3209925">
                <a:moveTo>
                  <a:pt x="0" y="0"/>
                </a:moveTo>
                <a:lnTo>
                  <a:pt x="3209925" y="0"/>
                </a:lnTo>
                <a:lnTo>
                  <a:pt x="3209925" y="529082"/>
                </a:lnTo>
                <a:lnTo>
                  <a:pt x="0" y="529082"/>
                </a:lnTo>
                <a:lnTo>
                  <a:pt x="0" y="0"/>
                </a:lnTo>
                <a:close/>
              </a:path>
            </a:pathLst>
          </a:custGeom>
          <a:blipFill rotWithShape="1">
            <a:blip r:embed="rId6">
              <a:alphaModFix/>
            </a:blip>
            <a:stretch>
              <a:fillRect b="-790" l="0" r="0" t="0"/>
            </a:stretch>
          </a:blipFill>
          <a:ln>
            <a:noFill/>
          </a:ln>
        </p:spPr>
      </p:sp>
      <p:sp>
        <p:nvSpPr>
          <p:cNvPr id="96" name="Google Shape;96;p14"/>
          <p:cNvSpPr/>
          <p:nvPr/>
        </p:nvSpPr>
        <p:spPr>
          <a:xfrm>
            <a:off x="8533823" y="8833444"/>
            <a:ext cx="1917859" cy="338328"/>
          </a:xfrm>
          <a:custGeom>
            <a:rect b="b" l="l" r="r" t="t"/>
            <a:pathLst>
              <a:path extrusionOk="0" h="451104" w="2557145">
                <a:moveTo>
                  <a:pt x="0" y="0"/>
                </a:moveTo>
                <a:lnTo>
                  <a:pt x="2557145" y="0"/>
                </a:lnTo>
                <a:lnTo>
                  <a:pt x="2557145" y="451104"/>
                </a:lnTo>
                <a:lnTo>
                  <a:pt x="0" y="451104"/>
                </a:lnTo>
                <a:lnTo>
                  <a:pt x="0" y="0"/>
                </a:lnTo>
                <a:close/>
              </a:path>
            </a:pathLst>
          </a:custGeom>
          <a:blipFill rotWithShape="1">
            <a:blip r:embed="rId7">
              <a:alphaModFix/>
            </a:blip>
            <a:stretch>
              <a:fillRect b="-1220" l="0" r="0" t="0"/>
            </a:stretch>
          </a:blipFill>
          <a:ln>
            <a:noFill/>
          </a:ln>
        </p:spPr>
      </p:sp>
      <p:sp>
        <p:nvSpPr>
          <p:cNvPr id="97" name="Google Shape;97;p14"/>
          <p:cNvSpPr/>
          <p:nvPr/>
        </p:nvSpPr>
        <p:spPr>
          <a:xfrm>
            <a:off x="5834899" y="8655744"/>
            <a:ext cx="2526030" cy="703707"/>
          </a:xfrm>
          <a:custGeom>
            <a:rect b="b" l="l" r="r" t="t"/>
            <a:pathLst>
              <a:path extrusionOk="0" h="938276" w="3368040">
                <a:moveTo>
                  <a:pt x="0" y="0"/>
                </a:moveTo>
                <a:lnTo>
                  <a:pt x="3368040" y="0"/>
                </a:lnTo>
                <a:lnTo>
                  <a:pt x="3368040" y="938276"/>
                </a:lnTo>
                <a:lnTo>
                  <a:pt x="0" y="938276"/>
                </a:lnTo>
                <a:lnTo>
                  <a:pt x="0" y="0"/>
                </a:lnTo>
                <a:close/>
              </a:path>
            </a:pathLst>
          </a:custGeom>
          <a:blipFill rotWithShape="1">
            <a:blip r:embed="rId8">
              <a:alphaModFix/>
            </a:blip>
            <a:stretch>
              <a:fillRect b="0" l="0" r="-5160" t="0"/>
            </a:stretch>
          </a:blipFill>
          <a:ln>
            <a:noFill/>
          </a:ln>
        </p:spPr>
      </p:sp>
      <p:sp>
        <p:nvSpPr>
          <p:cNvPr id="98" name="Google Shape;98;p14"/>
          <p:cNvSpPr/>
          <p:nvPr/>
        </p:nvSpPr>
        <p:spPr>
          <a:xfrm>
            <a:off x="10710923" y="8739106"/>
            <a:ext cx="1839182" cy="600646"/>
          </a:xfrm>
          <a:custGeom>
            <a:rect b="b" l="l" r="r" t="t"/>
            <a:pathLst>
              <a:path extrusionOk="0" h="800862" w="2452243">
                <a:moveTo>
                  <a:pt x="0" y="0"/>
                </a:moveTo>
                <a:lnTo>
                  <a:pt x="2452243" y="0"/>
                </a:lnTo>
                <a:lnTo>
                  <a:pt x="2452243" y="800862"/>
                </a:lnTo>
                <a:lnTo>
                  <a:pt x="0" y="800862"/>
                </a:lnTo>
                <a:lnTo>
                  <a:pt x="0" y="0"/>
                </a:lnTo>
                <a:close/>
              </a:path>
            </a:pathLst>
          </a:custGeom>
          <a:blipFill rotWithShape="1">
            <a:blip r:embed="rId9">
              <a:alphaModFix/>
            </a:blip>
            <a:stretch>
              <a:fillRect b="-850" l="0" r="0" t="0"/>
            </a:stretch>
          </a:blipFill>
          <a:ln>
            <a:noFill/>
          </a:ln>
        </p:spPr>
      </p:sp>
      <p:sp>
        <p:nvSpPr>
          <p:cNvPr id="99" name="Google Shape;99;p14"/>
          <p:cNvSpPr/>
          <p:nvPr/>
        </p:nvSpPr>
        <p:spPr>
          <a:xfrm>
            <a:off x="12757649" y="8687602"/>
            <a:ext cx="1435037" cy="600646"/>
          </a:xfrm>
          <a:custGeom>
            <a:rect b="b" l="l" r="r" t="t"/>
            <a:pathLst>
              <a:path extrusionOk="0" h="800862" w="1913382">
                <a:moveTo>
                  <a:pt x="0" y="0"/>
                </a:moveTo>
                <a:lnTo>
                  <a:pt x="1913382" y="0"/>
                </a:lnTo>
                <a:lnTo>
                  <a:pt x="1913382" y="800862"/>
                </a:lnTo>
                <a:lnTo>
                  <a:pt x="0" y="800862"/>
                </a:lnTo>
                <a:lnTo>
                  <a:pt x="0" y="0"/>
                </a:lnTo>
                <a:close/>
              </a:path>
            </a:pathLst>
          </a:custGeom>
          <a:blipFill rotWithShape="1">
            <a:blip r:embed="rId10">
              <a:alphaModFix/>
            </a:blip>
            <a:stretch>
              <a:fillRect b="0" l="0" r="0" t="0"/>
            </a:stretch>
          </a:blipFill>
          <a:ln>
            <a:noFill/>
          </a:ln>
        </p:spPr>
      </p:sp>
      <p:sp>
        <p:nvSpPr>
          <p:cNvPr id="100" name="Google Shape;100;p14"/>
          <p:cNvSpPr/>
          <p:nvPr/>
        </p:nvSpPr>
        <p:spPr>
          <a:xfrm>
            <a:off x="14400149" y="8213550"/>
            <a:ext cx="1535335" cy="1535335"/>
          </a:xfrm>
          <a:custGeom>
            <a:rect b="b" l="l" r="r" t="t"/>
            <a:pathLst>
              <a:path extrusionOk="0" h="2047113" w="2047113">
                <a:moveTo>
                  <a:pt x="0" y="0"/>
                </a:moveTo>
                <a:lnTo>
                  <a:pt x="2047113" y="0"/>
                </a:lnTo>
                <a:lnTo>
                  <a:pt x="2047113" y="2047113"/>
                </a:lnTo>
                <a:lnTo>
                  <a:pt x="0" y="2047113"/>
                </a:lnTo>
                <a:lnTo>
                  <a:pt x="0" y="0"/>
                </a:lnTo>
                <a:close/>
              </a:path>
            </a:pathLst>
          </a:custGeom>
          <a:blipFill rotWithShape="1">
            <a:blip r:embed="rId11">
              <a:alphaModFix/>
            </a:blip>
            <a:stretch>
              <a:fillRect b="0" l="0" r="0" t="0"/>
            </a:stretch>
          </a:blipFill>
          <a:ln>
            <a:noFill/>
          </a:ln>
        </p:spPr>
      </p:sp>
      <p:pic>
        <p:nvPicPr>
          <p:cNvPr id="101" name="Google Shape;101;p14"/>
          <p:cNvPicPr preferRelativeResize="0"/>
          <p:nvPr/>
        </p:nvPicPr>
        <p:blipFill>
          <a:blip r:embed="rId12">
            <a:alphaModFix/>
          </a:blip>
          <a:stretch>
            <a:fillRect/>
          </a:stretch>
        </p:blipFill>
        <p:spPr>
          <a:xfrm>
            <a:off x="16018373" y="8729445"/>
            <a:ext cx="2097224" cy="4341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15"/>
          <p:cNvSpPr txBox="1"/>
          <p:nvPr/>
        </p:nvSpPr>
        <p:spPr>
          <a:xfrm>
            <a:off x="1028700" y="408454"/>
            <a:ext cx="16709100" cy="1385100"/>
          </a:xfrm>
          <a:prstGeom prst="rect">
            <a:avLst/>
          </a:prstGeom>
          <a:noFill/>
          <a:ln>
            <a:noFill/>
          </a:ln>
        </p:spPr>
        <p:txBody>
          <a:bodyPr anchorCtr="0" anchor="t" bIns="0" lIns="0" spcFirstLastPara="1" rIns="0" wrap="square" tIns="0">
            <a:spAutoFit/>
          </a:bodyPr>
          <a:lstStyle/>
          <a:p>
            <a:pPr indent="0" lvl="0" marL="0" marR="0" rtl="0" algn="l">
              <a:lnSpc>
                <a:spcPct val="89999"/>
              </a:lnSpc>
              <a:spcBef>
                <a:spcPts val="0"/>
              </a:spcBef>
              <a:spcAft>
                <a:spcPts val="0"/>
              </a:spcAft>
              <a:buNone/>
            </a:pPr>
            <a:r>
              <a:rPr i="0" lang="en-US" sz="9999" u="none" cap="none" strike="noStrike">
                <a:solidFill>
                  <a:srgbClr val="002C5C"/>
                </a:solidFill>
                <a:latin typeface="Anton"/>
                <a:ea typeface="Anton"/>
                <a:cs typeface="Anton"/>
                <a:sym typeface="Anton"/>
              </a:rPr>
              <a:t>INTRODUCTION</a:t>
            </a:r>
            <a:endParaRPr>
              <a:solidFill>
                <a:srgbClr val="002C5C"/>
              </a:solidFill>
              <a:latin typeface="Anton"/>
              <a:ea typeface="Anton"/>
              <a:cs typeface="Anton"/>
              <a:sym typeface="Anton"/>
            </a:endParaRPr>
          </a:p>
        </p:txBody>
      </p:sp>
      <p:grpSp>
        <p:nvGrpSpPr>
          <p:cNvPr id="107" name="Google Shape;107;p15"/>
          <p:cNvGrpSpPr/>
          <p:nvPr/>
        </p:nvGrpSpPr>
        <p:grpSpPr>
          <a:xfrm>
            <a:off x="1028700" y="1798046"/>
            <a:ext cx="7898175" cy="7120604"/>
            <a:chOff x="0" y="-85725"/>
            <a:chExt cx="10530900" cy="9494138"/>
          </a:xfrm>
        </p:grpSpPr>
        <p:sp>
          <p:nvSpPr>
            <p:cNvPr id="108" name="Google Shape;108;p15"/>
            <p:cNvSpPr txBox="1"/>
            <p:nvPr/>
          </p:nvSpPr>
          <p:spPr>
            <a:xfrm>
              <a:off x="0" y="-85725"/>
              <a:ext cx="10293900" cy="410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2000" u="none" cap="none" strike="noStrike">
                  <a:solidFill>
                    <a:srgbClr val="888888"/>
                  </a:solidFill>
                  <a:latin typeface="Poppins"/>
                  <a:ea typeface="Poppins"/>
                  <a:cs typeface="Poppins"/>
                  <a:sym typeface="Poppins"/>
                </a:rPr>
                <a:t>Empower Your Brand with Volt.Africa</a:t>
              </a:r>
              <a:endParaRPr>
                <a:solidFill>
                  <a:srgbClr val="888888"/>
                </a:solidFill>
              </a:endParaRPr>
            </a:p>
          </p:txBody>
        </p:sp>
        <p:sp>
          <p:nvSpPr>
            <p:cNvPr id="109" name="Google Shape;109;p15"/>
            <p:cNvSpPr txBox="1"/>
            <p:nvPr/>
          </p:nvSpPr>
          <p:spPr>
            <a:xfrm>
              <a:off x="0" y="829613"/>
              <a:ext cx="10530900" cy="8578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200" u="none" cap="none" strike="noStrike">
                  <a:solidFill>
                    <a:srgbClr val="002C5C"/>
                  </a:solidFill>
                  <a:latin typeface="Poppins"/>
                  <a:ea typeface="Poppins"/>
                  <a:cs typeface="Poppins"/>
                  <a:sym typeface="Poppins"/>
                </a:rPr>
                <a:t>At Volt.Africa, we redefine advertising with a 360° approach—seamlessly integrating print, digital, social, and paid media for maximum brand impact.</a:t>
              </a:r>
              <a:endParaRPr sz="2200">
                <a:solidFill>
                  <a:srgbClr val="002C5C"/>
                </a:solidFill>
              </a:endParaRPr>
            </a:p>
            <a:p>
              <a:pPr indent="0" lvl="0" marL="0" marR="0" rtl="0" algn="l">
                <a:lnSpc>
                  <a:spcPct val="150000"/>
                </a:lnSpc>
                <a:spcBef>
                  <a:spcPts val="0"/>
                </a:spcBef>
                <a:spcAft>
                  <a:spcPts val="0"/>
                </a:spcAft>
                <a:buNone/>
              </a:pPr>
              <a:r>
                <a:t/>
              </a:r>
              <a:endParaRPr b="0" i="0" sz="2200" u="none" cap="none" strike="noStrike">
                <a:solidFill>
                  <a:srgbClr val="002C5C"/>
                </a:solidFill>
                <a:latin typeface="Poppins"/>
                <a:ea typeface="Poppins"/>
                <a:cs typeface="Poppins"/>
                <a:sym typeface="Poppins"/>
              </a:endParaRPr>
            </a:p>
            <a:p>
              <a:pPr indent="0" lvl="0" marL="0" marR="0" rtl="0" algn="l">
                <a:lnSpc>
                  <a:spcPct val="150000"/>
                </a:lnSpc>
                <a:spcBef>
                  <a:spcPts val="0"/>
                </a:spcBef>
                <a:spcAft>
                  <a:spcPts val="0"/>
                </a:spcAft>
                <a:buNone/>
              </a:pPr>
              <a:r>
                <a:rPr lang="en-US" sz="2200">
                  <a:solidFill>
                    <a:srgbClr val="002C5C"/>
                  </a:solidFill>
                  <a:latin typeface="Poppins"/>
                  <a:ea typeface="Poppins"/>
                  <a:cs typeface="Poppins"/>
                  <a:sym typeface="Poppins"/>
                </a:rPr>
                <a:t>As specialists in multi-channel advertising across buy and sell sites</a:t>
              </a:r>
              <a:r>
                <a:rPr b="0" i="0" lang="en-US" sz="2200" u="none" cap="none" strike="noStrike">
                  <a:solidFill>
                    <a:srgbClr val="002C5C"/>
                  </a:solidFill>
                  <a:latin typeface="Poppins"/>
                  <a:ea typeface="Poppins"/>
                  <a:cs typeface="Poppins"/>
                  <a:sym typeface="Poppins"/>
                </a:rPr>
                <a:t>, we deliver advanced strategies—premium inventory buying, dynamic social campaigns, and tailored solutions—to meet your unique objectives.</a:t>
              </a:r>
              <a:endParaRPr sz="2200">
                <a:solidFill>
                  <a:srgbClr val="002C5C"/>
                </a:solidFill>
              </a:endParaRPr>
            </a:p>
            <a:p>
              <a:pPr indent="0" lvl="0" marL="0" marR="0" rtl="0" algn="l">
                <a:lnSpc>
                  <a:spcPct val="150000"/>
                </a:lnSpc>
                <a:spcBef>
                  <a:spcPts val="0"/>
                </a:spcBef>
                <a:spcAft>
                  <a:spcPts val="0"/>
                </a:spcAft>
                <a:buNone/>
              </a:pPr>
              <a:r>
                <a:t/>
              </a:r>
              <a:endParaRPr b="1" i="0" sz="2200" u="none" cap="none" strike="noStrike">
                <a:solidFill>
                  <a:srgbClr val="002C5C"/>
                </a:solidFill>
                <a:latin typeface="Poppins"/>
                <a:ea typeface="Poppins"/>
                <a:cs typeface="Poppins"/>
                <a:sym typeface="Poppins"/>
              </a:endParaRPr>
            </a:p>
            <a:p>
              <a:pPr indent="0" lvl="0" marL="0" marR="0" rtl="0" algn="l">
                <a:lnSpc>
                  <a:spcPct val="150000"/>
                </a:lnSpc>
                <a:spcBef>
                  <a:spcPts val="0"/>
                </a:spcBef>
                <a:spcAft>
                  <a:spcPts val="0"/>
                </a:spcAft>
                <a:buNone/>
              </a:pPr>
              <a:r>
                <a:rPr b="1" i="0" lang="en-US" sz="2200" u="none" cap="none" strike="noStrike">
                  <a:solidFill>
                    <a:srgbClr val="002C5C"/>
                  </a:solidFill>
                  <a:latin typeface="Poppins"/>
                  <a:ea typeface="Poppins"/>
                  <a:cs typeface="Poppins"/>
                  <a:sym typeface="Poppins"/>
                </a:rPr>
                <a:t>Why Volt.Africa?</a:t>
              </a:r>
              <a:endParaRPr b="1" sz="2200">
                <a:solidFill>
                  <a:srgbClr val="002C5C"/>
                </a:solidFill>
              </a:endParaRPr>
            </a:p>
            <a:p>
              <a:pPr indent="0" lvl="0" marL="0" marR="0" rtl="0" algn="l">
                <a:lnSpc>
                  <a:spcPct val="150000"/>
                </a:lnSpc>
                <a:spcBef>
                  <a:spcPts val="0"/>
                </a:spcBef>
                <a:spcAft>
                  <a:spcPts val="0"/>
                </a:spcAft>
                <a:buNone/>
              </a:pPr>
              <a:r>
                <a:rPr b="0" i="0" lang="en-US" sz="2200" u="none" cap="none" strike="noStrike">
                  <a:solidFill>
                    <a:srgbClr val="002C5C"/>
                  </a:solidFill>
                  <a:latin typeface="Poppins"/>
                  <a:ea typeface="Poppins"/>
                  <a:cs typeface="Poppins"/>
                  <a:sym typeface="Poppins"/>
                </a:rPr>
                <a:t>Because we go beyond traditional advertising, creating results-driven campaigns that amplify your brand’s voice and reach the right audience at the right time.</a:t>
              </a:r>
              <a:endParaRPr sz="1900">
                <a:solidFill>
                  <a:srgbClr val="002C5C"/>
                </a:solidFill>
              </a:endParaRPr>
            </a:p>
          </p:txBody>
        </p:sp>
      </p:grpSp>
      <p:cxnSp>
        <p:nvCxnSpPr>
          <p:cNvPr id="110" name="Google Shape;110;p15"/>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111" name="Google Shape;111;p15"/>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sp>
        <p:nvSpPr>
          <p:cNvPr id="112" name="Google Shape;112;p15"/>
          <p:cNvSpPr txBox="1"/>
          <p:nvPr/>
        </p:nvSpPr>
        <p:spPr>
          <a:xfrm>
            <a:off x="9617700" y="2407601"/>
            <a:ext cx="8133600" cy="3386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200" u="none" cap="none" strike="noStrike">
                <a:solidFill>
                  <a:schemeClr val="dk2"/>
                </a:solidFill>
                <a:latin typeface="Poppins"/>
                <a:ea typeface="Poppins"/>
                <a:cs typeface="Poppins"/>
                <a:sym typeface="Poppins"/>
              </a:rPr>
              <a:t>Volt Africa has forged powerful connections with one of South Africa's premier news platforms, IOL (Independent Online), as well as</a:t>
            </a:r>
            <a:r>
              <a:rPr lang="en-US" sz="2200">
                <a:solidFill>
                  <a:schemeClr val="dk2"/>
                </a:solidFill>
                <a:latin typeface="Poppins"/>
                <a:ea typeface="Poppins"/>
                <a:cs typeface="Poppins"/>
                <a:sym typeface="Poppins"/>
              </a:rPr>
              <a:t> </a:t>
            </a:r>
            <a:r>
              <a:rPr b="0" i="0" lang="en-US" sz="2200" u="none" cap="none" strike="noStrike">
                <a:solidFill>
                  <a:schemeClr val="dk2"/>
                </a:solidFill>
                <a:latin typeface="Poppins"/>
                <a:ea typeface="Poppins"/>
                <a:cs typeface="Poppins"/>
                <a:sym typeface="Poppins"/>
              </a:rPr>
              <a:t>Condé Nast, home to South Africa's leading fashion, beauty</a:t>
            </a:r>
            <a:r>
              <a:rPr lang="en-US" sz="2200">
                <a:solidFill>
                  <a:schemeClr val="dk2"/>
                </a:solidFill>
                <a:latin typeface="Poppins"/>
                <a:ea typeface="Poppins"/>
                <a:cs typeface="Poppins"/>
                <a:sym typeface="Poppins"/>
              </a:rPr>
              <a:t> and entertainment titles. </a:t>
            </a:r>
            <a:r>
              <a:rPr b="0" i="0" lang="en-US" sz="2200" u="none" cap="none" strike="noStrike">
                <a:solidFill>
                  <a:schemeClr val="dk2"/>
                </a:solidFill>
                <a:latin typeface="Poppins"/>
                <a:ea typeface="Poppins"/>
                <a:cs typeface="Poppins"/>
                <a:sym typeface="Poppins"/>
              </a:rPr>
              <a:t> </a:t>
            </a:r>
            <a:r>
              <a:rPr lang="en-US" sz="2200">
                <a:solidFill>
                  <a:schemeClr val="dk2"/>
                </a:solidFill>
                <a:latin typeface="Poppins"/>
                <a:ea typeface="Poppins"/>
                <a:cs typeface="Poppins"/>
                <a:sym typeface="Poppins"/>
              </a:rPr>
              <a:t>O</a:t>
            </a:r>
            <a:r>
              <a:rPr b="0" i="0" lang="en-US" sz="2200" u="none" cap="none" strike="noStrike">
                <a:solidFill>
                  <a:schemeClr val="dk2"/>
                </a:solidFill>
                <a:latin typeface="Poppins"/>
                <a:ea typeface="Poppins"/>
                <a:cs typeface="Poppins"/>
                <a:sym typeface="Poppins"/>
              </a:rPr>
              <a:t>ur exclusive partnership</a:t>
            </a:r>
            <a:r>
              <a:rPr lang="en-US" sz="2200">
                <a:solidFill>
                  <a:schemeClr val="dk2"/>
                </a:solidFill>
                <a:latin typeface="Poppins"/>
                <a:ea typeface="Poppins"/>
                <a:cs typeface="Poppins"/>
                <a:sym typeface="Poppins"/>
              </a:rPr>
              <a:t>s </a:t>
            </a:r>
            <a:r>
              <a:rPr b="0" i="0" lang="en-US" sz="2200" u="none" cap="none" strike="noStrike">
                <a:solidFill>
                  <a:schemeClr val="dk2"/>
                </a:solidFill>
                <a:latin typeface="Poppins"/>
                <a:ea typeface="Poppins"/>
                <a:cs typeface="Poppins"/>
                <a:sym typeface="Poppins"/>
              </a:rPr>
              <a:t>elevate your campaign with prioritised placements, strategically targeted messaging across multiple verticals and platforms</a:t>
            </a:r>
            <a:r>
              <a:rPr lang="en-US" sz="2200">
                <a:solidFill>
                  <a:schemeClr val="dk2"/>
                </a:solidFill>
                <a:latin typeface="Poppins"/>
                <a:ea typeface="Poppins"/>
                <a:cs typeface="Poppins"/>
                <a:sym typeface="Poppins"/>
              </a:rPr>
              <a:t>.</a:t>
            </a:r>
            <a:endParaRPr sz="2200">
              <a:solidFill>
                <a:schemeClr val="dk2"/>
              </a:solidFill>
              <a:latin typeface="Poppins"/>
              <a:ea typeface="Poppins"/>
              <a:cs typeface="Poppins"/>
              <a:sym typeface="Poppins"/>
            </a:endParaRPr>
          </a:p>
        </p:txBody>
      </p:sp>
      <p:sp>
        <p:nvSpPr>
          <p:cNvPr id="113" name="Google Shape;113;p15"/>
          <p:cNvSpPr txBox="1"/>
          <p:nvPr/>
        </p:nvSpPr>
        <p:spPr>
          <a:xfrm>
            <a:off x="9617692" y="1793545"/>
            <a:ext cx="8804100" cy="1046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000" u="none" cap="none" strike="noStrike">
                <a:solidFill>
                  <a:srgbClr val="888888"/>
                </a:solidFill>
                <a:latin typeface="Poppins"/>
                <a:ea typeface="Poppins"/>
                <a:cs typeface="Poppins"/>
                <a:sym typeface="Poppins"/>
              </a:rPr>
              <a:t>Premium Partnerships</a:t>
            </a:r>
            <a:endParaRPr>
              <a:solidFill>
                <a:srgbClr val="888888"/>
              </a:solidFill>
            </a:endParaRPr>
          </a:p>
          <a:p>
            <a:pPr indent="0" lvl="0" marL="0" marR="0" rtl="0" algn="l">
              <a:lnSpc>
                <a:spcPct val="120000"/>
              </a:lnSpc>
              <a:spcBef>
                <a:spcPts val="0"/>
              </a:spcBef>
              <a:spcAft>
                <a:spcPts val="0"/>
              </a:spcAft>
              <a:buNone/>
            </a:pPr>
            <a:r>
              <a:t/>
            </a:r>
            <a:endParaRPr b="1" i="0" sz="2000" u="none" cap="none" strike="noStrike">
              <a:solidFill>
                <a:srgbClr val="888888"/>
              </a:solidFill>
              <a:latin typeface="Poppins"/>
              <a:ea typeface="Poppins"/>
              <a:cs typeface="Poppins"/>
              <a:sym typeface="Poppins"/>
            </a:endParaRPr>
          </a:p>
          <a:p>
            <a:pPr indent="0" lvl="0" marL="0" marR="0" rtl="0" algn="l">
              <a:lnSpc>
                <a:spcPct val="120000"/>
              </a:lnSpc>
              <a:spcBef>
                <a:spcPts val="0"/>
              </a:spcBef>
              <a:spcAft>
                <a:spcPts val="0"/>
              </a:spcAft>
              <a:buNone/>
            </a:pPr>
            <a:r>
              <a:t/>
            </a:r>
            <a:endParaRPr b="1" i="0" sz="2000" u="none" cap="none" strike="noStrike">
              <a:solidFill>
                <a:srgbClr val="888888"/>
              </a:solidFill>
              <a:latin typeface="Poppins"/>
              <a:ea typeface="Poppins"/>
              <a:cs typeface="Poppins"/>
              <a:sym typeface="Poppins"/>
            </a:endParaRPr>
          </a:p>
        </p:txBody>
      </p:sp>
      <p:grpSp>
        <p:nvGrpSpPr>
          <p:cNvPr id="114" name="Google Shape;114;p15"/>
          <p:cNvGrpSpPr/>
          <p:nvPr/>
        </p:nvGrpSpPr>
        <p:grpSpPr>
          <a:xfrm>
            <a:off x="10296186" y="8192891"/>
            <a:ext cx="1419930" cy="380365"/>
            <a:chOff x="0" y="-47625"/>
            <a:chExt cx="1310503" cy="351052"/>
          </a:xfrm>
        </p:grpSpPr>
        <p:sp>
          <p:nvSpPr>
            <p:cNvPr id="115" name="Google Shape;115;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16" name="Google Shape;116;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17" name="Google Shape;117;p15"/>
          <p:cNvGrpSpPr/>
          <p:nvPr/>
        </p:nvGrpSpPr>
        <p:grpSpPr>
          <a:xfrm>
            <a:off x="11869373" y="7281330"/>
            <a:ext cx="1419930" cy="380365"/>
            <a:chOff x="0" y="-47625"/>
            <a:chExt cx="1310503" cy="351052"/>
          </a:xfrm>
        </p:grpSpPr>
        <p:sp>
          <p:nvSpPr>
            <p:cNvPr id="118" name="Google Shape;118;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19" name="Google Shape;119;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20" name="Google Shape;120;p15"/>
          <p:cNvGrpSpPr/>
          <p:nvPr/>
        </p:nvGrpSpPr>
        <p:grpSpPr>
          <a:xfrm>
            <a:off x="13442560" y="7281330"/>
            <a:ext cx="1419930" cy="380365"/>
            <a:chOff x="0" y="-47625"/>
            <a:chExt cx="1310503" cy="351052"/>
          </a:xfrm>
        </p:grpSpPr>
        <p:sp>
          <p:nvSpPr>
            <p:cNvPr id="121" name="Google Shape;121;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22" name="Google Shape;122;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23" name="Google Shape;123;p15"/>
          <p:cNvGrpSpPr/>
          <p:nvPr/>
        </p:nvGrpSpPr>
        <p:grpSpPr>
          <a:xfrm>
            <a:off x="10296186" y="7282678"/>
            <a:ext cx="1419930" cy="380365"/>
            <a:chOff x="0" y="-47625"/>
            <a:chExt cx="1310503" cy="351052"/>
          </a:xfrm>
        </p:grpSpPr>
        <p:sp>
          <p:nvSpPr>
            <p:cNvPr id="124" name="Google Shape;124;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25" name="Google Shape;125;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26" name="Google Shape;126;p15"/>
          <p:cNvGrpSpPr/>
          <p:nvPr/>
        </p:nvGrpSpPr>
        <p:grpSpPr>
          <a:xfrm>
            <a:off x="10296186" y="6826223"/>
            <a:ext cx="1419930" cy="380365"/>
            <a:chOff x="0" y="-47625"/>
            <a:chExt cx="1310503" cy="351052"/>
          </a:xfrm>
        </p:grpSpPr>
        <p:sp>
          <p:nvSpPr>
            <p:cNvPr id="127" name="Google Shape;127;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28" name="Google Shape;128;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29" name="Google Shape;129;p15"/>
          <p:cNvGrpSpPr/>
          <p:nvPr/>
        </p:nvGrpSpPr>
        <p:grpSpPr>
          <a:xfrm>
            <a:off x="11869373" y="6826223"/>
            <a:ext cx="1419930" cy="380365"/>
            <a:chOff x="0" y="-47625"/>
            <a:chExt cx="1310503" cy="351052"/>
          </a:xfrm>
        </p:grpSpPr>
        <p:sp>
          <p:nvSpPr>
            <p:cNvPr id="130" name="Google Shape;130;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31" name="Google Shape;131;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32" name="Google Shape;132;p15"/>
          <p:cNvGrpSpPr/>
          <p:nvPr/>
        </p:nvGrpSpPr>
        <p:grpSpPr>
          <a:xfrm>
            <a:off x="13442560" y="6826223"/>
            <a:ext cx="1419930" cy="380365"/>
            <a:chOff x="0" y="-47625"/>
            <a:chExt cx="1310503" cy="351052"/>
          </a:xfrm>
        </p:grpSpPr>
        <p:sp>
          <p:nvSpPr>
            <p:cNvPr id="133" name="Google Shape;133;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34" name="Google Shape;134;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35" name="Google Shape;135;p15"/>
          <p:cNvGrpSpPr/>
          <p:nvPr/>
        </p:nvGrpSpPr>
        <p:grpSpPr>
          <a:xfrm>
            <a:off x="10296186" y="7737785"/>
            <a:ext cx="1419930" cy="380365"/>
            <a:chOff x="0" y="-47625"/>
            <a:chExt cx="1310503" cy="351052"/>
          </a:xfrm>
        </p:grpSpPr>
        <p:sp>
          <p:nvSpPr>
            <p:cNvPr id="136" name="Google Shape;136;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37" name="Google Shape;137;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38" name="Google Shape;138;p15"/>
          <p:cNvGrpSpPr/>
          <p:nvPr/>
        </p:nvGrpSpPr>
        <p:grpSpPr>
          <a:xfrm>
            <a:off x="11869373" y="7737785"/>
            <a:ext cx="1419930" cy="380365"/>
            <a:chOff x="0" y="-47625"/>
            <a:chExt cx="1310503" cy="351052"/>
          </a:xfrm>
        </p:grpSpPr>
        <p:sp>
          <p:nvSpPr>
            <p:cNvPr id="139" name="Google Shape;139;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40" name="Google Shape;140;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41" name="Google Shape;141;p15"/>
          <p:cNvGrpSpPr/>
          <p:nvPr/>
        </p:nvGrpSpPr>
        <p:grpSpPr>
          <a:xfrm>
            <a:off x="13442560" y="7737785"/>
            <a:ext cx="1419930" cy="380365"/>
            <a:chOff x="0" y="-47625"/>
            <a:chExt cx="1310503" cy="351052"/>
          </a:xfrm>
        </p:grpSpPr>
        <p:sp>
          <p:nvSpPr>
            <p:cNvPr id="142" name="Google Shape;142;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43" name="Google Shape;143;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44" name="Google Shape;144;p15"/>
          <p:cNvGrpSpPr/>
          <p:nvPr/>
        </p:nvGrpSpPr>
        <p:grpSpPr>
          <a:xfrm>
            <a:off x="11869373" y="8194552"/>
            <a:ext cx="1419930" cy="380365"/>
            <a:chOff x="0" y="-47625"/>
            <a:chExt cx="1310503" cy="351052"/>
          </a:xfrm>
        </p:grpSpPr>
        <p:sp>
          <p:nvSpPr>
            <p:cNvPr id="145" name="Google Shape;145;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46" name="Google Shape;146;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47" name="Google Shape;147;p15"/>
          <p:cNvGrpSpPr/>
          <p:nvPr/>
        </p:nvGrpSpPr>
        <p:grpSpPr>
          <a:xfrm>
            <a:off x="13443194" y="8194552"/>
            <a:ext cx="1419930" cy="380365"/>
            <a:chOff x="0" y="-47625"/>
            <a:chExt cx="1310503" cy="351052"/>
          </a:xfrm>
        </p:grpSpPr>
        <p:sp>
          <p:nvSpPr>
            <p:cNvPr id="148" name="Google Shape;148;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49" name="Google Shape;149;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50" name="Google Shape;150;p15"/>
          <p:cNvGrpSpPr/>
          <p:nvPr/>
        </p:nvGrpSpPr>
        <p:grpSpPr>
          <a:xfrm>
            <a:off x="15015340" y="7279669"/>
            <a:ext cx="1419930" cy="380365"/>
            <a:chOff x="0" y="-47625"/>
            <a:chExt cx="1310503" cy="351052"/>
          </a:xfrm>
        </p:grpSpPr>
        <p:sp>
          <p:nvSpPr>
            <p:cNvPr id="151" name="Google Shape;151;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52" name="Google Shape;152;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53" name="Google Shape;153;p15"/>
          <p:cNvGrpSpPr/>
          <p:nvPr/>
        </p:nvGrpSpPr>
        <p:grpSpPr>
          <a:xfrm>
            <a:off x="15015340" y="6824562"/>
            <a:ext cx="1419930" cy="380365"/>
            <a:chOff x="0" y="-47625"/>
            <a:chExt cx="1310503" cy="351052"/>
          </a:xfrm>
        </p:grpSpPr>
        <p:sp>
          <p:nvSpPr>
            <p:cNvPr id="154" name="Google Shape;154;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55" name="Google Shape;155;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56" name="Google Shape;156;p15"/>
          <p:cNvGrpSpPr/>
          <p:nvPr/>
        </p:nvGrpSpPr>
        <p:grpSpPr>
          <a:xfrm>
            <a:off x="15015340" y="7736124"/>
            <a:ext cx="1419930" cy="380365"/>
            <a:chOff x="0" y="-47625"/>
            <a:chExt cx="1310503" cy="351052"/>
          </a:xfrm>
        </p:grpSpPr>
        <p:sp>
          <p:nvSpPr>
            <p:cNvPr id="157" name="Google Shape;157;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58" name="Google Shape;158;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59" name="Google Shape;159;p15"/>
          <p:cNvGrpSpPr/>
          <p:nvPr/>
        </p:nvGrpSpPr>
        <p:grpSpPr>
          <a:xfrm>
            <a:off x="15015974" y="8192891"/>
            <a:ext cx="1419930" cy="380365"/>
            <a:chOff x="0" y="-47625"/>
            <a:chExt cx="1310503" cy="351052"/>
          </a:xfrm>
        </p:grpSpPr>
        <p:sp>
          <p:nvSpPr>
            <p:cNvPr id="160" name="Google Shape;160;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61" name="Google Shape;161;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62" name="Google Shape;162;p15"/>
          <p:cNvGrpSpPr/>
          <p:nvPr/>
        </p:nvGrpSpPr>
        <p:grpSpPr>
          <a:xfrm>
            <a:off x="10311822" y="6392012"/>
            <a:ext cx="1419930" cy="380365"/>
            <a:chOff x="0" y="-47625"/>
            <a:chExt cx="1310503" cy="351052"/>
          </a:xfrm>
        </p:grpSpPr>
        <p:sp>
          <p:nvSpPr>
            <p:cNvPr id="163" name="Google Shape;163;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64" name="Google Shape;164;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65" name="Google Shape;165;p15"/>
          <p:cNvGrpSpPr/>
          <p:nvPr/>
        </p:nvGrpSpPr>
        <p:grpSpPr>
          <a:xfrm>
            <a:off x="11885009" y="6392012"/>
            <a:ext cx="1419930" cy="380365"/>
            <a:chOff x="0" y="-47625"/>
            <a:chExt cx="1310503" cy="351052"/>
          </a:xfrm>
        </p:grpSpPr>
        <p:sp>
          <p:nvSpPr>
            <p:cNvPr id="166" name="Google Shape;166;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67" name="Google Shape;167;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68" name="Google Shape;168;p15"/>
          <p:cNvGrpSpPr/>
          <p:nvPr/>
        </p:nvGrpSpPr>
        <p:grpSpPr>
          <a:xfrm>
            <a:off x="13458195" y="6392012"/>
            <a:ext cx="1419930" cy="380365"/>
            <a:chOff x="0" y="-47625"/>
            <a:chExt cx="1310503" cy="351052"/>
          </a:xfrm>
        </p:grpSpPr>
        <p:sp>
          <p:nvSpPr>
            <p:cNvPr id="169" name="Google Shape;169;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70" name="Google Shape;170;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71" name="Google Shape;171;p15"/>
          <p:cNvGrpSpPr/>
          <p:nvPr/>
        </p:nvGrpSpPr>
        <p:grpSpPr>
          <a:xfrm>
            <a:off x="15030975" y="6390351"/>
            <a:ext cx="1419930" cy="380365"/>
            <a:chOff x="0" y="-47625"/>
            <a:chExt cx="1310503" cy="351052"/>
          </a:xfrm>
        </p:grpSpPr>
        <p:sp>
          <p:nvSpPr>
            <p:cNvPr id="172" name="Google Shape;172;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73" name="Google Shape;173;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sp>
        <p:nvSpPr>
          <p:cNvPr id="174" name="Google Shape;174;p15"/>
          <p:cNvSpPr/>
          <p:nvPr/>
        </p:nvSpPr>
        <p:spPr>
          <a:xfrm>
            <a:off x="11964954" y="6504267"/>
            <a:ext cx="1228540" cy="204096"/>
          </a:xfrm>
          <a:custGeom>
            <a:rect b="b" l="l" r="r" t="t"/>
            <a:pathLst>
              <a:path extrusionOk="0" h="246642" w="1484640">
                <a:moveTo>
                  <a:pt x="0" y="0"/>
                </a:moveTo>
                <a:lnTo>
                  <a:pt x="1484640" y="0"/>
                </a:lnTo>
                <a:lnTo>
                  <a:pt x="1484640" y="246642"/>
                </a:lnTo>
                <a:lnTo>
                  <a:pt x="0" y="246642"/>
                </a:lnTo>
                <a:lnTo>
                  <a:pt x="0" y="0"/>
                </a:lnTo>
                <a:close/>
              </a:path>
            </a:pathLst>
          </a:custGeom>
          <a:blipFill rotWithShape="1">
            <a:blip r:embed="rId4">
              <a:alphaModFix/>
            </a:blip>
            <a:stretch>
              <a:fillRect b="0" l="0" r="0" t="0"/>
            </a:stretch>
          </a:blipFill>
          <a:ln>
            <a:noFill/>
          </a:ln>
        </p:spPr>
      </p:sp>
      <p:sp>
        <p:nvSpPr>
          <p:cNvPr id="175" name="Google Shape;175;p15"/>
          <p:cNvSpPr/>
          <p:nvPr/>
        </p:nvSpPr>
        <p:spPr>
          <a:xfrm>
            <a:off x="10771983" y="6464707"/>
            <a:ext cx="390024" cy="283202"/>
          </a:xfrm>
          <a:custGeom>
            <a:rect b="b" l="l" r="r" t="t"/>
            <a:pathLst>
              <a:path extrusionOk="0" h="342238" w="471328">
                <a:moveTo>
                  <a:pt x="0" y="0"/>
                </a:moveTo>
                <a:lnTo>
                  <a:pt x="471328" y="0"/>
                </a:lnTo>
                <a:lnTo>
                  <a:pt x="471328" y="342238"/>
                </a:lnTo>
                <a:lnTo>
                  <a:pt x="0" y="342238"/>
                </a:lnTo>
                <a:lnTo>
                  <a:pt x="0" y="0"/>
                </a:lnTo>
                <a:close/>
              </a:path>
            </a:pathLst>
          </a:custGeom>
          <a:blipFill rotWithShape="1">
            <a:blip r:embed="rId5">
              <a:alphaModFix/>
            </a:blip>
            <a:stretch>
              <a:fillRect b="0" l="0" r="0" t="0"/>
            </a:stretch>
          </a:blipFill>
          <a:ln>
            <a:noFill/>
          </a:ln>
        </p:spPr>
      </p:sp>
      <p:sp>
        <p:nvSpPr>
          <p:cNvPr id="176" name="Google Shape;176;p15"/>
          <p:cNvSpPr/>
          <p:nvPr/>
        </p:nvSpPr>
        <p:spPr>
          <a:xfrm>
            <a:off x="13645375" y="6283726"/>
            <a:ext cx="981617" cy="732437"/>
          </a:xfrm>
          <a:custGeom>
            <a:rect b="b" l="l" r="r" t="t"/>
            <a:pathLst>
              <a:path extrusionOk="0" h="885120" w="1186244">
                <a:moveTo>
                  <a:pt x="0" y="0"/>
                </a:moveTo>
                <a:lnTo>
                  <a:pt x="1186244" y="0"/>
                </a:lnTo>
                <a:lnTo>
                  <a:pt x="1186244" y="885120"/>
                </a:lnTo>
                <a:lnTo>
                  <a:pt x="0" y="885120"/>
                </a:lnTo>
                <a:lnTo>
                  <a:pt x="0" y="0"/>
                </a:lnTo>
                <a:close/>
              </a:path>
            </a:pathLst>
          </a:custGeom>
          <a:blipFill rotWithShape="1">
            <a:blip r:embed="rId6">
              <a:alphaModFix/>
            </a:blip>
            <a:stretch>
              <a:fillRect b="0" l="0" r="0" t="0"/>
            </a:stretch>
          </a:blipFill>
          <a:ln>
            <a:noFill/>
          </a:ln>
        </p:spPr>
      </p:sp>
      <p:sp>
        <p:nvSpPr>
          <p:cNvPr id="177" name="Google Shape;177;p15"/>
          <p:cNvSpPr/>
          <p:nvPr/>
        </p:nvSpPr>
        <p:spPr>
          <a:xfrm>
            <a:off x="10495326" y="6953902"/>
            <a:ext cx="986394" cy="176577"/>
          </a:xfrm>
          <a:custGeom>
            <a:rect b="b" l="l" r="r" t="t"/>
            <a:pathLst>
              <a:path extrusionOk="0" h="213386" w="1192017">
                <a:moveTo>
                  <a:pt x="0" y="0"/>
                </a:moveTo>
                <a:lnTo>
                  <a:pt x="1192018" y="0"/>
                </a:lnTo>
                <a:lnTo>
                  <a:pt x="1192018" y="213386"/>
                </a:lnTo>
                <a:lnTo>
                  <a:pt x="0" y="213386"/>
                </a:lnTo>
                <a:lnTo>
                  <a:pt x="0" y="0"/>
                </a:lnTo>
                <a:close/>
              </a:path>
            </a:pathLst>
          </a:custGeom>
          <a:blipFill rotWithShape="1">
            <a:blip r:embed="rId7">
              <a:alphaModFix/>
            </a:blip>
            <a:stretch>
              <a:fillRect b="0" l="0" r="0" t="0"/>
            </a:stretch>
          </a:blipFill>
          <a:ln>
            <a:noFill/>
          </a:ln>
        </p:spPr>
      </p:sp>
      <p:sp>
        <p:nvSpPr>
          <p:cNvPr id="178" name="Google Shape;178;p15"/>
          <p:cNvSpPr/>
          <p:nvPr/>
        </p:nvSpPr>
        <p:spPr>
          <a:xfrm>
            <a:off x="12274096" y="6907901"/>
            <a:ext cx="641634" cy="268562"/>
          </a:xfrm>
          <a:custGeom>
            <a:rect b="b" l="l" r="r" t="t"/>
            <a:pathLst>
              <a:path extrusionOk="0" h="324546" w="775388">
                <a:moveTo>
                  <a:pt x="0" y="0"/>
                </a:moveTo>
                <a:lnTo>
                  <a:pt x="775388" y="0"/>
                </a:lnTo>
                <a:lnTo>
                  <a:pt x="775388" y="324546"/>
                </a:lnTo>
                <a:lnTo>
                  <a:pt x="0" y="324546"/>
                </a:lnTo>
                <a:lnTo>
                  <a:pt x="0" y="0"/>
                </a:lnTo>
                <a:close/>
              </a:path>
            </a:pathLst>
          </a:custGeom>
          <a:blipFill rotWithShape="1">
            <a:blip r:embed="rId8">
              <a:alphaModFix/>
            </a:blip>
            <a:stretch>
              <a:fillRect b="0" l="0" r="0" t="0"/>
            </a:stretch>
          </a:blipFill>
          <a:ln>
            <a:noFill/>
          </a:ln>
        </p:spPr>
      </p:sp>
      <p:sp>
        <p:nvSpPr>
          <p:cNvPr id="179" name="Google Shape;179;p15"/>
          <p:cNvSpPr/>
          <p:nvPr/>
        </p:nvSpPr>
        <p:spPr>
          <a:xfrm>
            <a:off x="13609468" y="6907615"/>
            <a:ext cx="1117176" cy="290025"/>
          </a:xfrm>
          <a:custGeom>
            <a:rect b="b" l="l" r="r" t="t"/>
            <a:pathLst>
              <a:path extrusionOk="0" h="350483" w="1350062">
                <a:moveTo>
                  <a:pt x="0" y="0"/>
                </a:moveTo>
                <a:lnTo>
                  <a:pt x="1350061" y="0"/>
                </a:lnTo>
                <a:lnTo>
                  <a:pt x="1350061" y="350484"/>
                </a:lnTo>
                <a:lnTo>
                  <a:pt x="0" y="350484"/>
                </a:lnTo>
                <a:lnTo>
                  <a:pt x="0" y="0"/>
                </a:lnTo>
                <a:close/>
              </a:path>
            </a:pathLst>
          </a:custGeom>
          <a:blipFill rotWithShape="1">
            <a:blip r:embed="rId9">
              <a:alphaModFix/>
            </a:blip>
            <a:stretch>
              <a:fillRect b="0" l="0" r="0" t="0"/>
            </a:stretch>
          </a:blipFill>
          <a:ln>
            <a:noFill/>
          </a:ln>
        </p:spPr>
      </p:sp>
      <p:sp>
        <p:nvSpPr>
          <p:cNvPr id="180" name="Google Shape;180;p15"/>
          <p:cNvSpPr/>
          <p:nvPr/>
        </p:nvSpPr>
        <p:spPr>
          <a:xfrm>
            <a:off x="15217159" y="6473778"/>
            <a:ext cx="1132029" cy="268386"/>
          </a:xfrm>
          <a:custGeom>
            <a:rect b="b" l="l" r="r" t="t"/>
            <a:pathLst>
              <a:path extrusionOk="0" h="324333" w="1368011">
                <a:moveTo>
                  <a:pt x="0" y="0"/>
                </a:moveTo>
                <a:lnTo>
                  <a:pt x="1368011" y="0"/>
                </a:lnTo>
                <a:lnTo>
                  <a:pt x="1368011" y="324332"/>
                </a:lnTo>
                <a:lnTo>
                  <a:pt x="0" y="324332"/>
                </a:lnTo>
                <a:lnTo>
                  <a:pt x="0" y="0"/>
                </a:lnTo>
                <a:close/>
              </a:path>
            </a:pathLst>
          </a:custGeom>
          <a:blipFill rotWithShape="1">
            <a:blip r:embed="rId10">
              <a:alphaModFix/>
            </a:blip>
            <a:stretch>
              <a:fillRect b="0" l="0" r="0" t="0"/>
            </a:stretch>
          </a:blipFill>
          <a:ln>
            <a:noFill/>
          </a:ln>
        </p:spPr>
      </p:sp>
      <p:sp>
        <p:nvSpPr>
          <p:cNvPr id="181" name="Google Shape;181;p15"/>
          <p:cNvSpPr/>
          <p:nvPr/>
        </p:nvSpPr>
        <p:spPr>
          <a:xfrm>
            <a:off x="11999354" y="7425059"/>
            <a:ext cx="1159752" cy="147177"/>
          </a:xfrm>
          <a:custGeom>
            <a:rect b="b" l="l" r="r" t="t"/>
            <a:pathLst>
              <a:path extrusionOk="0" h="177857" w="1401513">
                <a:moveTo>
                  <a:pt x="0" y="0"/>
                </a:moveTo>
                <a:lnTo>
                  <a:pt x="1401513" y="0"/>
                </a:lnTo>
                <a:lnTo>
                  <a:pt x="1401513" y="177857"/>
                </a:lnTo>
                <a:lnTo>
                  <a:pt x="0" y="177857"/>
                </a:lnTo>
                <a:lnTo>
                  <a:pt x="0" y="0"/>
                </a:lnTo>
                <a:close/>
              </a:path>
            </a:pathLst>
          </a:custGeom>
          <a:blipFill rotWithShape="1">
            <a:blip r:embed="rId11">
              <a:alphaModFix/>
            </a:blip>
            <a:stretch>
              <a:fillRect b="0" l="0" r="0" t="0"/>
            </a:stretch>
          </a:blipFill>
          <a:ln>
            <a:noFill/>
          </a:ln>
        </p:spPr>
      </p:sp>
      <p:sp>
        <p:nvSpPr>
          <p:cNvPr id="182" name="Google Shape;182;p15"/>
          <p:cNvSpPr/>
          <p:nvPr/>
        </p:nvSpPr>
        <p:spPr>
          <a:xfrm>
            <a:off x="13624878" y="7425059"/>
            <a:ext cx="1016121" cy="166433"/>
          </a:xfrm>
          <a:custGeom>
            <a:rect b="b" l="l" r="r" t="t"/>
            <a:pathLst>
              <a:path extrusionOk="0" h="201128" w="1227941">
                <a:moveTo>
                  <a:pt x="0" y="0"/>
                </a:moveTo>
                <a:lnTo>
                  <a:pt x="1227941" y="0"/>
                </a:lnTo>
                <a:lnTo>
                  <a:pt x="1227941" y="201128"/>
                </a:lnTo>
                <a:lnTo>
                  <a:pt x="0" y="201128"/>
                </a:lnTo>
                <a:lnTo>
                  <a:pt x="0" y="0"/>
                </a:lnTo>
                <a:close/>
              </a:path>
            </a:pathLst>
          </a:custGeom>
          <a:blipFill rotWithShape="1">
            <a:blip r:embed="rId12">
              <a:alphaModFix/>
            </a:blip>
            <a:stretch>
              <a:fillRect b="0" l="0" r="0" t="0"/>
            </a:stretch>
          </a:blipFill>
          <a:ln>
            <a:noFill/>
          </a:ln>
        </p:spPr>
      </p:sp>
      <p:sp>
        <p:nvSpPr>
          <p:cNvPr id="183" name="Google Shape;183;p15"/>
          <p:cNvSpPr/>
          <p:nvPr/>
        </p:nvSpPr>
        <p:spPr>
          <a:xfrm>
            <a:off x="10616933" y="7867158"/>
            <a:ext cx="743224" cy="190230"/>
          </a:xfrm>
          <a:custGeom>
            <a:rect b="b" l="l" r="r" t="t"/>
            <a:pathLst>
              <a:path extrusionOk="0" h="229885" w="898156">
                <a:moveTo>
                  <a:pt x="0" y="0"/>
                </a:moveTo>
                <a:lnTo>
                  <a:pt x="898156" y="0"/>
                </a:lnTo>
                <a:lnTo>
                  <a:pt x="898156" y="229885"/>
                </a:lnTo>
                <a:lnTo>
                  <a:pt x="0" y="229885"/>
                </a:lnTo>
                <a:lnTo>
                  <a:pt x="0" y="0"/>
                </a:lnTo>
                <a:close/>
              </a:path>
            </a:pathLst>
          </a:custGeom>
          <a:blipFill rotWithShape="1">
            <a:blip r:embed="rId13">
              <a:alphaModFix/>
            </a:blip>
            <a:stretch>
              <a:fillRect b="0" l="0" r="0" t="0"/>
            </a:stretch>
          </a:blipFill>
          <a:ln>
            <a:noFill/>
          </a:ln>
        </p:spPr>
      </p:sp>
      <p:sp>
        <p:nvSpPr>
          <p:cNvPr id="184" name="Google Shape;184;p15"/>
          <p:cNvSpPr/>
          <p:nvPr/>
        </p:nvSpPr>
        <p:spPr>
          <a:xfrm>
            <a:off x="12185308" y="7860506"/>
            <a:ext cx="787911" cy="183167"/>
          </a:xfrm>
          <a:custGeom>
            <a:rect b="b" l="l" r="r" t="t"/>
            <a:pathLst>
              <a:path extrusionOk="0" h="221350" w="952158">
                <a:moveTo>
                  <a:pt x="0" y="0"/>
                </a:moveTo>
                <a:lnTo>
                  <a:pt x="952158" y="0"/>
                </a:lnTo>
                <a:lnTo>
                  <a:pt x="952158" y="221350"/>
                </a:lnTo>
                <a:lnTo>
                  <a:pt x="0" y="221350"/>
                </a:lnTo>
                <a:lnTo>
                  <a:pt x="0" y="0"/>
                </a:lnTo>
                <a:close/>
              </a:path>
            </a:pathLst>
          </a:custGeom>
          <a:blipFill rotWithShape="1">
            <a:blip r:embed="rId14">
              <a:alphaModFix/>
            </a:blip>
            <a:stretch>
              <a:fillRect b="0" l="0" r="0" t="0"/>
            </a:stretch>
          </a:blipFill>
          <a:ln>
            <a:noFill/>
          </a:ln>
        </p:spPr>
      </p:sp>
      <p:sp>
        <p:nvSpPr>
          <p:cNvPr id="185" name="Google Shape;185;p15"/>
          <p:cNvSpPr/>
          <p:nvPr/>
        </p:nvSpPr>
        <p:spPr>
          <a:xfrm>
            <a:off x="15134735" y="7362162"/>
            <a:ext cx="1180923" cy="272949"/>
          </a:xfrm>
          <a:custGeom>
            <a:rect b="b" l="l" r="r" t="t"/>
            <a:pathLst>
              <a:path extrusionOk="0" h="329848" w="1427097">
                <a:moveTo>
                  <a:pt x="0" y="0"/>
                </a:moveTo>
                <a:lnTo>
                  <a:pt x="1427097" y="0"/>
                </a:lnTo>
                <a:lnTo>
                  <a:pt x="1427097" y="329848"/>
                </a:lnTo>
                <a:lnTo>
                  <a:pt x="0" y="329848"/>
                </a:lnTo>
                <a:lnTo>
                  <a:pt x="0" y="0"/>
                </a:lnTo>
                <a:close/>
              </a:path>
            </a:pathLst>
          </a:custGeom>
          <a:blipFill rotWithShape="1">
            <a:blip r:embed="rId15">
              <a:alphaModFix/>
            </a:blip>
            <a:stretch>
              <a:fillRect b="0" l="0" r="0" t="0"/>
            </a:stretch>
          </a:blipFill>
          <a:ln>
            <a:noFill/>
          </a:ln>
        </p:spPr>
      </p:sp>
      <p:sp>
        <p:nvSpPr>
          <p:cNvPr id="186" name="Google Shape;186;p15"/>
          <p:cNvSpPr/>
          <p:nvPr/>
        </p:nvSpPr>
        <p:spPr>
          <a:xfrm>
            <a:off x="10464755" y="8168814"/>
            <a:ext cx="1047523" cy="522311"/>
          </a:xfrm>
          <a:custGeom>
            <a:rect b="b" l="l" r="r" t="t"/>
            <a:pathLst>
              <a:path extrusionOk="0" h="631191" w="1265889">
                <a:moveTo>
                  <a:pt x="0" y="0"/>
                </a:moveTo>
                <a:lnTo>
                  <a:pt x="1265890" y="0"/>
                </a:lnTo>
                <a:lnTo>
                  <a:pt x="1265890" y="631191"/>
                </a:lnTo>
                <a:lnTo>
                  <a:pt x="0" y="631191"/>
                </a:lnTo>
                <a:lnTo>
                  <a:pt x="0" y="0"/>
                </a:lnTo>
                <a:close/>
              </a:path>
            </a:pathLst>
          </a:custGeom>
          <a:blipFill rotWithShape="1">
            <a:blip r:embed="rId16">
              <a:alphaModFix/>
            </a:blip>
            <a:stretch>
              <a:fillRect b="0" l="0" r="0" t="0"/>
            </a:stretch>
          </a:blipFill>
          <a:ln>
            <a:noFill/>
          </a:ln>
        </p:spPr>
      </p:sp>
      <p:sp>
        <p:nvSpPr>
          <p:cNvPr id="187" name="Google Shape;187;p15"/>
          <p:cNvSpPr/>
          <p:nvPr/>
        </p:nvSpPr>
        <p:spPr>
          <a:xfrm>
            <a:off x="12274096" y="8287669"/>
            <a:ext cx="499455" cy="247646"/>
          </a:xfrm>
          <a:custGeom>
            <a:rect b="b" l="l" r="r" t="t"/>
            <a:pathLst>
              <a:path extrusionOk="0" h="299270" w="603571">
                <a:moveTo>
                  <a:pt x="0" y="0"/>
                </a:moveTo>
                <a:lnTo>
                  <a:pt x="603570" y="0"/>
                </a:lnTo>
                <a:lnTo>
                  <a:pt x="603570" y="299270"/>
                </a:lnTo>
                <a:lnTo>
                  <a:pt x="0" y="299270"/>
                </a:lnTo>
                <a:lnTo>
                  <a:pt x="0" y="0"/>
                </a:lnTo>
                <a:close/>
              </a:path>
            </a:pathLst>
          </a:custGeom>
          <a:blipFill rotWithShape="1">
            <a:blip r:embed="rId17">
              <a:alphaModFix/>
            </a:blip>
            <a:stretch>
              <a:fillRect b="0" l="0" r="0" t="0"/>
            </a:stretch>
          </a:blipFill>
          <a:ln>
            <a:noFill/>
          </a:ln>
        </p:spPr>
      </p:sp>
      <p:sp>
        <p:nvSpPr>
          <p:cNvPr id="188" name="Google Shape;188;p15"/>
          <p:cNvSpPr/>
          <p:nvPr/>
        </p:nvSpPr>
        <p:spPr>
          <a:xfrm>
            <a:off x="13788816" y="8208545"/>
            <a:ext cx="805872" cy="400585"/>
          </a:xfrm>
          <a:custGeom>
            <a:rect b="b" l="l" r="r" t="t"/>
            <a:pathLst>
              <a:path extrusionOk="0" h="484091" w="973863">
                <a:moveTo>
                  <a:pt x="0" y="0"/>
                </a:moveTo>
                <a:lnTo>
                  <a:pt x="973863" y="0"/>
                </a:lnTo>
                <a:lnTo>
                  <a:pt x="973863" y="484091"/>
                </a:lnTo>
                <a:lnTo>
                  <a:pt x="0" y="484091"/>
                </a:lnTo>
                <a:lnTo>
                  <a:pt x="0" y="0"/>
                </a:lnTo>
                <a:close/>
              </a:path>
            </a:pathLst>
          </a:custGeom>
          <a:blipFill rotWithShape="1">
            <a:blip r:embed="rId18">
              <a:alphaModFix/>
            </a:blip>
            <a:stretch>
              <a:fillRect b="0" l="0" r="0" t="0"/>
            </a:stretch>
          </a:blipFill>
          <a:ln>
            <a:noFill/>
          </a:ln>
        </p:spPr>
      </p:sp>
      <p:sp>
        <p:nvSpPr>
          <p:cNvPr id="189" name="Google Shape;189;p15"/>
          <p:cNvSpPr/>
          <p:nvPr/>
        </p:nvSpPr>
        <p:spPr>
          <a:xfrm>
            <a:off x="13624878" y="7596751"/>
            <a:ext cx="1115871" cy="730946"/>
          </a:xfrm>
          <a:custGeom>
            <a:rect b="b" l="l" r="r" t="t"/>
            <a:pathLst>
              <a:path extrusionOk="0" h="883319" w="1348485">
                <a:moveTo>
                  <a:pt x="0" y="0"/>
                </a:moveTo>
                <a:lnTo>
                  <a:pt x="1348484" y="0"/>
                </a:lnTo>
                <a:lnTo>
                  <a:pt x="1348484" y="883319"/>
                </a:lnTo>
                <a:lnTo>
                  <a:pt x="0" y="883319"/>
                </a:lnTo>
                <a:lnTo>
                  <a:pt x="0" y="0"/>
                </a:lnTo>
                <a:close/>
              </a:path>
            </a:pathLst>
          </a:custGeom>
          <a:blipFill rotWithShape="1">
            <a:blip r:embed="rId19">
              <a:alphaModFix/>
            </a:blip>
            <a:stretch>
              <a:fillRect b="0" l="0" r="0" t="0"/>
            </a:stretch>
          </a:blipFill>
          <a:ln>
            <a:noFill/>
          </a:ln>
        </p:spPr>
      </p:sp>
      <p:sp>
        <p:nvSpPr>
          <p:cNvPr id="190" name="Google Shape;190;p15"/>
          <p:cNvSpPr/>
          <p:nvPr/>
        </p:nvSpPr>
        <p:spPr>
          <a:xfrm>
            <a:off x="15107419" y="7530995"/>
            <a:ext cx="1327606" cy="862435"/>
          </a:xfrm>
          <a:custGeom>
            <a:rect b="b" l="l" r="r" t="t"/>
            <a:pathLst>
              <a:path extrusionOk="0" h="1042217" w="1604358">
                <a:moveTo>
                  <a:pt x="0" y="0"/>
                </a:moveTo>
                <a:lnTo>
                  <a:pt x="1604357" y="0"/>
                </a:lnTo>
                <a:lnTo>
                  <a:pt x="1604357" y="1042217"/>
                </a:lnTo>
                <a:lnTo>
                  <a:pt x="0" y="1042217"/>
                </a:lnTo>
                <a:lnTo>
                  <a:pt x="0" y="0"/>
                </a:lnTo>
                <a:close/>
              </a:path>
            </a:pathLst>
          </a:custGeom>
          <a:blipFill rotWithShape="1">
            <a:blip r:embed="rId20">
              <a:alphaModFix/>
            </a:blip>
            <a:stretch>
              <a:fillRect b="0" l="0" r="0" t="0"/>
            </a:stretch>
          </a:blipFill>
          <a:ln>
            <a:noFill/>
          </a:ln>
        </p:spPr>
      </p:sp>
      <p:sp>
        <p:nvSpPr>
          <p:cNvPr id="191" name="Google Shape;191;p15"/>
          <p:cNvSpPr/>
          <p:nvPr/>
        </p:nvSpPr>
        <p:spPr>
          <a:xfrm>
            <a:off x="15144915" y="8306765"/>
            <a:ext cx="1191832" cy="230296"/>
          </a:xfrm>
          <a:custGeom>
            <a:rect b="b" l="l" r="r" t="t"/>
            <a:pathLst>
              <a:path extrusionOk="0" h="278303" w="1440280">
                <a:moveTo>
                  <a:pt x="0" y="0"/>
                </a:moveTo>
                <a:lnTo>
                  <a:pt x="1440280" y="0"/>
                </a:lnTo>
                <a:lnTo>
                  <a:pt x="1440280" y="278303"/>
                </a:lnTo>
                <a:lnTo>
                  <a:pt x="0" y="278303"/>
                </a:lnTo>
                <a:lnTo>
                  <a:pt x="0" y="0"/>
                </a:lnTo>
                <a:close/>
              </a:path>
            </a:pathLst>
          </a:custGeom>
          <a:blipFill rotWithShape="1">
            <a:blip r:embed="rId21">
              <a:alphaModFix/>
            </a:blip>
            <a:stretch>
              <a:fillRect b="-10751" l="0" r="0" t="0"/>
            </a:stretch>
          </a:blipFill>
          <a:ln>
            <a:noFill/>
          </a:ln>
        </p:spPr>
      </p:sp>
      <p:grpSp>
        <p:nvGrpSpPr>
          <p:cNvPr id="192" name="Google Shape;192;p15"/>
          <p:cNvGrpSpPr/>
          <p:nvPr/>
        </p:nvGrpSpPr>
        <p:grpSpPr>
          <a:xfrm>
            <a:off x="10296186" y="8648157"/>
            <a:ext cx="1419930" cy="380365"/>
            <a:chOff x="0" y="-47625"/>
            <a:chExt cx="1310503" cy="351052"/>
          </a:xfrm>
        </p:grpSpPr>
        <p:sp>
          <p:nvSpPr>
            <p:cNvPr id="193" name="Google Shape;193;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94" name="Google Shape;194;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95" name="Google Shape;195;p15"/>
          <p:cNvGrpSpPr/>
          <p:nvPr/>
        </p:nvGrpSpPr>
        <p:grpSpPr>
          <a:xfrm>
            <a:off x="11869373" y="8649819"/>
            <a:ext cx="1419930" cy="380365"/>
            <a:chOff x="0" y="-47625"/>
            <a:chExt cx="1310503" cy="351052"/>
          </a:xfrm>
        </p:grpSpPr>
        <p:sp>
          <p:nvSpPr>
            <p:cNvPr id="196" name="Google Shape;196;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197" name="Google Shape;197;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198" name="Google Shape;198;p15"/>
          <p:cNvGrpSpPr/>
          <p:nvPr/>
        </p:nvGrpSpPr>
        <p:grpSpPr>
          <a:xfrm>
            <a:off x="13443194" y="8649819"/>
            <a:ext cx="1419930" cy="380365"/>
            <a:chOff x="0" y="-47625"/>
            <a:chExt cx="1310503" cy="351052"/>
          </a:xfrm>
        </p:grpSpPr>
        <p:sp>
          <p:nvSpPr>
            <p:cNvPr id="199" name="Google Shape;199;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200" name="Google Shape;200;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grpSp>
        <p:nvGrpSpPr>
          <p:cNvPr id="201" name="Google Shape;201;p15"/>
          <p:cNvGrpSpPr/>
          <p:nvPr/>
        </p:nvGrpSpPr>
        <p:grpSpPr>
          <a:xfrm>
            <a:off x="15015974" y="8648157"/>
            <a:ext cx="1419930" cy="380365"/>
            <a:chOff x="0" y="-47625"/>
            <a:chExt cx="1310503" cy="351052"/>
          </a:xfrm>
        </p:grpSpPr>
        <p:sp>
          <p:nvSpPr>
            <p:cNvPr id="202" name="Google Shape;202;p15"/>
            <p:cNvSpPr/>
            <p:nvPr/>
          </p:nvSpPr>
          <p:spPr>
            <a:xfrm>
              <a:off x="0" y="0"/>
              <a:ext cx="1310503" cy="303427"/>
            </a:xfrm>
            <a:custGeom>
              <a:rect b="b" l="l" r="r" t="t"/>
              <a:pathLst>
                <a:path extrusionOk="0" h="303427" w="1310503">
                  <a:moveTo>
                    <a:pt x="151714" y="0"/>
                  </a:moveTo>
                  <a:lnTo>
                    <a:pt x="1158789" y="0"/>
                  </a:lnTo>
                  <a:cubicBezTo>
                    <a:pt x="1199026" y="0"/>
                    <a:pt x="1237615" y="15984"/>
                    <a:pt x="1266067" y="44436"/>
                  </a:cubicBezTo>
                  <a:cubicBezTo>
                    <a:pt x="1294519" y="72888"/>
                    <a:pt x="1310503" y="111477"/>
                    <a:pt x="1310503" y="151714"/>
                  </a:cubicBezTo>
                  <a:lnTo>
                    <a:pt x="1310503" y="151714"/>
                  </a:lnTo>
                  <a:cubicBezTo>
                    <a:pt x="1310503" y="235503"/>
                    <a:pt x="1242578" y="303427"/>
                    <a:pt x="1158789" y="303427"/>
                  </a:cubicBezTo>
                  <a:lnTo>
                    <a:pt x="151714" y="303427"/>
                  </a:lnTo>
                  <a:cubicBezTo>
                    <a:pt x="67925" y="303427"/>
                    <a:pt x="0" y="235503"/>
                    <a:pt x="0" y="151714"/>
                  </a:cubicBezTo>
                  <a:lnTo>
                    <a:pt x="0" y="151714"/>
                  </a:lnTo>
                  <a:cubicBezTo>
                    <a:pt x="0" y="67925"/>
                    <a:pt x="67925" y="0"/>
                    <a:pt x="151714" y="0"/>
                  </a:cubicBezTo>
                  <a:close/>
                </a:path>
              </a:pathLst>
            </a:custGeom>
            <a:solidFill>
              <a:srgbClr val="FFFFFF"/>
            </a:solidFill>
            <a:ln cap="rnd" cmpd="sng" w="47300">
              <a:solidFill>
                <a:srgbClr val="F0F0F0"/>
              </a:solidFill>
              <a:prstDash val="solid"/>
              <a:round/>
              <a:headEnd len="sm" w="sm" type="none"/>
              <a:tailEnd len="sm" w="sm" type="none"/>
            </a:ln>
          </p:spPr>
          <p:txBody>
            <a:bodyPr anchorCtr="0" anchor="ctr" bIns="75675" lIns="75675" spcFirstLastPara="1" rIns="75675" wrap="square" tIns="75675">
              <a:noAutofit/>
            </a:bodyPr>
            <a:lstStyle/>
            <a:p>
              <a:pPr indent="0" lvl="0" marL="0" rtl="0" algn="l">
                <a:spcBef>
                  <a:spcPts val="0"/>
                </a:spcBef>
                <a:spcAft>
                  <a:spcPts val="0"/>
                </a:spcAft>
                <a:buNone/>
              </a:pPr>
              <a:r>
                <a:t/>
              </a:r>
              <a:endParaRPr/>
            </a:p>
          </p:txBody>
        </p:sp>
        <p:sp>
          <p:nvSpPr>
            <p:cNvPr id="203" name="Google Shape;203;p15"/>
            <p:cNvSpPr txBox="1"/>
            <p:nvPr/>
          </p:nvSpPr>
          <p:spPr>
            <a:xfrm>
              <a:off x="0" y="-47625"/>
              <a:ext cx="1310400" cy="351000"/>
            </a:xfrm>
            <a:prstGeom prst="rect">
              <a:avLst/>
            </a:prstGeom>
            <a:noFill/>
            <a:ln>
              <a:noFill/>
            </a:ln>
          </p:spPr>
          <p:txBody>
            <a:bodyPr anchorCtr="0" anchor="ctr" bIns="49525" lIns="49525" spcFirstLastPara="1" rIns="49525" wrap="square" tIns="49525">
              <a:noAutofit/>
            </a:bodyPr>
            <a:lstStyle/>
            <a:p>
              <a:pPr indent="0" lvl="0" marL="0" marR="0" rtl="0" algn="ctr">
                <a:lnSpc>
                  <a:spcPct val="178833"/>
                </a:lnSpc>
                <a:spcBef>
                  <a:spcPts val="0"/>
                </a:spcBef>
                <a:spcAft>
                  <a:spcPts val="0"/>
                </a:spcAft>
                <a:buNone/>
              </a:pPr>
              <a:r>
                <a:t/>
              </a:r>
              <a:endParaRPr b="0" i="0" sz="1490" u="none" cap="none" strike="noStrike">
                <a:solidFill>
                  <a:schemeClr val="dk1"/>
                </a:solidFill>
                <a:latin typeface="Calibri"/>
                <a:ea typeface="Calibri"/>
                <a:cs typeface="Calibri"/>
                <a:sym typeface="Calibri"/>
              </a:endParaRPr>
            </a:p>
          </p:txBody>
        </p:sp>
      </p:grpSp>
      <p:sp>
        <p:nvSpPr>
          <p:cNvPr id="204" name="Google Shape;204;p15"/>
          <p:cNvSpPr/>
          <p:nvPr/>
        </p:nvSpPr>
        <p:spPr>
          <a:xfrm>
            <a:off x="10629670" y="8691219"/>
            <a:ext cx="784086" cy="337241"/>
          </a:xfrm>
          <a:custGeom>
            <a:rect b="b" l="l" r="r" t="t"/>
            <a:pathLst>
              <a:path extrusionOk="0" h="407542" w="947536">
                <a:moveTo>
                  <a:pt x="0" y="0"/>
                </a:moveTo>
                <a:lnTo>
                  <a:pt x="947536" y="0"/>
                </a:lnTo>
                <a:lnTo>
                  <a:pt x="947536" y="407542"/>
                </a:lnTo>
                <a:lnTo>
                  <a:pt x="0" y="407542"/>
                </a:lnTo>
                <a:lnTo>
                  <a:pt x="0" y="0"/>
                </a:lnTo>
                <a:close/>
              </a:path>
            </a:pathLst>
          </a:custGeom>
          <a:blipFill rotWithShape="1">
            <a:blip r:embed="rId22">
              <a:alphaModFix/>
            </a:blip>
            <a:stretch>
              <a:fillRect b="0" l="0" r="0" t="0"/>
            </a:stretch>
          </a:blipFill>
          <a:ln>
            <a:noFill/>
          </a:ln>
        </p:spPr>
      </p:sp>
      <p:sp>
        <p:nvSpPr>
          <p:cNvPr id="205" name="Google Shape;205;p15"/>
          <p:cNvSpPr/>
          <p:nvPr/>
        </p:nvSpPr>
        <p:spPr>
          <a:xfrm>
            <a:off x="12021337" y="8744437"/>
            <a:ext cx="1172167" cy="259329"/>
          </a:xfrm>
          <a:custGeom>
            <a:rect b="b" l="l" r="r" t="t"/>
            <a:pathLst>
              <a:path extrusionOk="0" h="313389" w="1416516">
                <a:moveTo>
                  <a:pt x="0" y="0"/>
                </a:moveTo>
                <a:lnTo>
                  <a:pt x="1416516" y="0"/>
                </a:lnTo>
                <a:lnTo>
                  <a:pt x="1416516" y="313388"/>
                </a:lnTo>
                <a:lnTo>
                  <a:pt x="0" y="313388"/>
                </a:lnTo>
                <a:lnTo>
                  <a:pt x="0" y="0"/>
                </a:lnTo>
                <a:close/>
              </a:path>
            </a:pathLst>
          </a:custGeom>
          <a:blipFill rotWithShape="1">
            <a:blip r:embed="rId23">
              <a:alphaModFix/>
            </a:blip>
            <a:stretch>
              <a:fillRect b="0" l="0" r="0" t="0"/>
            </a:stretch>
          </a:blipFill>
          <a:ln>
            <a:noFill/>
          </a:ln>
        </p:spPr>
      </p:sp>
      <p:sp>
        <p:nvSpPr>
          <p:cNvPr id="206" name="Google Shape;206;p15"/>
          <p:cNvSpPr/>
          <p:nvPr/>
        </p:nvSpPr>
        <p:spPr>
          <a:xfrm>
            <a:off x="10464755" y="6960539"/>
            <a:ext cx="1096685" cy="1096685"/>
          </a:xfrm>
          <a:custGeom>
            <a:rect b="b" l="l" r="r" t="t"/>
            <a:pathLst>
              <a:path extrusionOk="0" h="1325299" w="1325299">
                <a:moveTo>
                  <a:pt x="0" y="0"/>
                </a:moveTo>
                <a:lnTo>
                  <a:pt x="1325299" y="0"/>
                </a:lnTo>
                <a:lnTo>
                  <a:pt x="1325299" y="1325299"/>
                </a:lnTo>
                <a:lnTo>
                  <a:pt x="0" y="1325299"/>
                </a:lnTo>
                <a:lnTo>
                  <a:pt x="0" y="0"/>
                </a:lnTo>
                <a:close/>
              </a:path>
            </a:pathLst>
          </a:custGeom>
          <a:blipFill rotWithShape="1">
            <a:blip r:embed="rId24">
              <a:alphaModFix/>
            </a:blip>
            <a:stretch>
              <a:fillRect b="0" l="0" r="0" t="0"/>
            </a:stretch>
          </a:blipFill>
          <a:ln>
            <a:noFill/>
          </a:ln>
        </p:spPr>
      </p:sp>
      <p:sp>
        <p:nvSpPr>
          <p:cNvPr id="207" name="Google Shape;207;p15"/>
          <p:cNvSpPr/>
          <p:nvPr/>
        </p:nvSpPr>
        <p:spPr>
          <a:xfrm>
            <a:off x="13624878" y="8724843"/>
            <a:ext cx="1125958" cy="292497"/>
          </a:xfrm>
          <a:custGeom>
            <a:rect b="b" l="l" r="r" t="t"/>
            <a:pathLst>
              <a:path extrusionOk="0" h="353471" w="1360674">
                <a:moveTo>
                  <a:pt x="0" y="0"/>
                </a:moveTo>
                <a:lnTo>
                  <a:pt x="1360674" y="0"/>
                </a:lnTo>
                <a:lnTo>
                  <a:pt x="1360674" y="353472"/>
                </a:lnTo>
                <a:lnTo>
                  <a:pt x="0" y="353472"/>
                </a:lnTo>
                <a:lnTo>
                  <a:pt x="0" y="0"/>
                </a:lnTo>
                <a:close/>
              </a:path>
            </a:pathLst>
          </a:custGeom>
          <a:blipFill rotWithShape="1">
            <a:blip r:embed="rId25">
              <a:alphaModFix/>
            </a:blip>
            <a:stretch>
              <a:fillRect b="0" l="0" r="0" t="0"/>
            </a:stretch>
          </a:blipFill>
          <a:ln>
            <a:noFill/>
          </a:ln>
        </p:spPr>
      </p:sp>
      <p:sp>
        <p:nvSpPr>
          <p:cNvPr id="208" name="Google Shape;208;p15"/>
          <p:cNvSpPr/>
          <p:nvPr/>
        </p:nvSpPr>
        <p:spPr>
          <a:xfrm>
            <a:off x="15371678" y="8690624"/>
            <a:ext cx="747890" cy="326710"/>
          </a:xfrm>
          <a:custGeom>
            <a:rect b="b" l="l" r="r" t="t"/>
            <a:pathLst>
              <a:path extrusionOk="0" h="394816" w="903795">
                <a:moveTo>
                  <a:pt x="0" y="0"/>
                </a:moveTo>
                <a:lnTo>
                  <a:pt x="903796" y="0"/>
                </a:lnTo>
                <a:lnTo>
                  <a:pt x="903796" y="394816"/>
                </a:lnTo>
                <a:lnTo>
                  <a:pt x="0" y="394816"/>
                </a:lnTo>
                <a:lnTo>
                  <a:pt x="0" y="0"/>
                </a:lnTo>
                <a:close/>
              </a:path>
            </a:pathLst>
          </a:custGeom>
          <a:blipFill rotWithShape="1">
            <a:blip r:embed="rId26">
              <a:alphaModFix/>
            </a:blip>
            <a:stretch>
              <a:fillRect b="0" l="0" r="0" t="0"/>
            </a:stretch>
          </a:blipFill>
          <a:ln>
            <a:noFill/>
          </a:ln>
        </p:spPr>
      </p:sp>
      <p:sp>
        <p:nvSpPr>
          <p:cNvPr id="209" name="Google Shape;209;p15"/>
          <p:cNvSpPr/>
          <p:nvPr/>
        </p:nvSpPr>
        <p:spPr>
          <a:xfrm>
            <a:off x="15281268" y="6809359"/>
            <a:ext cx="979969" cy="462290"/>
          </a:xfrm>
          <a:custGeom>
            <a:rect b="b" l="l" r="r" t="t"/>
            <a:pathLst>
              <a:path extrusionOk="0" h="558659" w="1184253">
                <a:moveTo>
                  <a:pt x="0" y="0"/>
                </a:moveTo>
                <a:lnTo>
                  <a:pt x="1184253" y="0"/>
                </a:lnTo>
                <a:lnTo>
                  <a:pt x="1184253" y="558658"/>
                </a:lnTo>
                <a:lnTo>
                  <a:pt x="0" y="558658"/>
                </a:lnTo>
                <a:lnTo>
                  <a:pt x="0" y="0"/>
                </a:lnTo>
                <a:close/>
              </a:path>
            </a:pathLst>
          </a:custGeom>
          <a:blipFill rotWithShape="1">
            <a:blip r:embed="rId27">
              <a:alphaModFix/>
            </a:blip>
            <a:stretch>
              <a:fillRect b="0" l="0" r="0" t="0"/>
            </a:stretch>
          </a:blipFill>
          <a:ln>
            <a:noFill/>
          </a:ln>
        </p:spPr>
      </p:sp>
      <p:pic>
        <p:nvPicPr>
          <p:cNvPr id="210" name="Google Shape;210;p15"/>
          <p:cNvPicPr preferRelativeResize="0"/>
          <p:nvPr/>
        </p:nvPicPr>
        <p:blipFill rotWithShape="1">
          <a:blip r:embed="rId28">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16"/>
          <p:cNvSpPr txBox="1"/>
          <p:nvPr/>
        </p:nvSpPr>
        <p:spPr>
          <a:xfrm>
            <a:off x="790575" y="629264"/>
            <a:ext cx="11377800" cy="1154400"/>
          </a:xfrm>
          <a:prstGeom prst="rect">
            <a:avLst/>
          </a:prstGeom>
          <a:noFill/>
          <a:ln>
            <a:noFill/>
          </a:ln>
        </p:spPr>
        <p:txBody>
          <a:bodyPr anchorCtr="0" anchor="t" bIns="0" lIns="0" spcFirstLastPara="1" rIns="0" wrap="square" tIns="0">
            <a:spAutoFit/>
          </a:bodyPr>
          <a:lstStyle/>
          <a:p>
            <a:pPr indent="0" lvl="0" marL="0" marR="0" rtl="0" algn="l">
              <a:lnSpc>
                <a:spcPct val="74997"/>
              </a:lnSpc>
              <a:spcBef>
                <a:spcPts val="0"/>
              </a:spcBef>
              <a:spcAft>
                <a:spcPts val="0"/>
              </a:spcAft>
              <a:buNone/>
            </a:pPr>
            <a:r>
              <a:rPr i="0" lang="en-US" sz="9999" u="none" cap="none" strike="noStrike">
                <a:solidFill>
                  <a:srgbClr val="002C5C"/>
                </a:solidFill>
                <a:latin typeface="Anton"/>
                <a:ea typeface="Anton"/>
                <a:cs typeface="Anton"/>
                <a:sym typeface="Anton"/>
              </a:rPr>
              <a:t>OUR</a:t>
            </a:r>
            <a:r>
              <a:rPr i="0" lang="en-US" sz="9999" u="none" cap="none" strike="noStrike">
                <a:solidFill>
                  <a:schemeClr val="lt1"/>
                </a:solidFill>
                <a:latin typeface="Anton"/>
                <a:ea typeface="Anton"/>
                <a:cs typeface="Anton"/>
                <a:sym typeface="Anton"/>
              </a:rPr>
              <a:t> </a:t>
            </a:r>
            <a:r>
              <a:rPr i="0" lang="en-US" sz="9999" u="none" cap="none" strike="noStrike">
                <a:solidFill>
                  <a:srgbClr val="888888"/>
                </a:solidFill>
                <a:latin typeface="Anton"/>
                <a:ea typeface="Anton"/>
                <a:cs typeface="Anton"/>
                <a:sym typeface="Anton"/>
              </a:rPr>
              <a:t>NUMBERS</a:t>
            </a:r>
            <a:endParaRPr>
              <a:solidFill>
                <a:srgbClr val="888888"/>
              </a:solidFill>
              <a:latin typeface="Anton"/>
              <a:ea typeface="Anton"/>
              <a:cs typeface="Anton"/>
              <a:sym typeface="Anton"/>
            </a:endParaRPr>
          </a:p>
        </p:txBody>
      </p:sp>
      <p:sp>
        <p:nvSpPr>
          <p:cNvPr id="216" name="Google Shape;216;p16"/>
          <p:cNvSpPr txBox="1"/>
          <p:nvPr/>
        </p:nvSpPr>
        <p:spPr>
          <a:xfrm>
            <a:off x="790575" y="2553623"/>
            <a:ext cx="16518600" cy="1354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200" u="none" cap="none" strike="noStrike">
                <a:solidFill>
                  <a:srgbClr val="002C5C"/>
                </a:solidFill>
                <a:latin typeface="Poppins"/>
                <a:ea typeface="Poppins"/>
                <a:cs typeface="Poppins"/>
                <a:sym typeface="Poppins"/>
              </a:rPr>
              <a:t>Audience-based advertising allows brands to segment and target their audiences beyond age and gender, while providing more granular measurement than traditional buying. It leads naturally to more effective ad buys with less waste by reaching consumers in whatever corner of digital media they might visit.</a:t>
            </a:r>
            <a:endParaRPr sz="2100">
              <a:solidFill>
                <a:srgbClr val="002C5C"/>
              </a:solidFill>
            </a:endParaRPr>
          </a:p>
        </p:txBody>
      </p:sp>
      <p:sp>
        <p:nvSpPr>
          <p:cNvPr id="217" name="Google Shape;217;p16"/>
          <p:cNvSpPr txBox="1"/>
          <p:nvPr/>
        </p:nvSpPr>
        <p:spPr>
          <a:xfrm>
            <a:off x="790575" y="1972509"/>
            <a:ext cx="8804100" cy="67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000" u="none" cap="none" strike="noStrike">
                <a:solidFill>
                  <a:schemeClr val="lt1"/>
                </a:solidFill>
                <a:latin typeface="Poppins"/>
                <a:ea typeface="Poppins"/>
                <a:cs typeface="Poppins"/>
                <a:sym typeface="Poppins"/>
              </a:rPr>
              <a:t>Audience based targeting</a:t>
            </a:r>
            <a:endParaRPr>
              <a:solidFill>
                <a:schemeClr val="lt1"/>
              </a:solidFill>
            </a:endParaRPr>
          </a:p>
          <a:p>
            <a:pPr indent="0" lvl="0" marL="0" marR="0" rtl="0" algn="l">
              <a:lnSpc>
                <a:spcPct val="120000"/>
              </a:lnSpc>
              <a:spcBef>
                <a:spcPts val="0"/>
              </a:spcBef>
              <a:spcAft>
                <a:spcPts val="0"/>
              </a:spcAft>
              <a:buNone/>
            </a:pPr>
            <a:r>
              <a:t/>
            </a:r>
            <a:endParaRPr b="1" i="0" sz="2000" u="none" cap="none" strike="noStrike">
              <a:solidFill>
                <a:schemeClr val="lt1"/>
              </a:solidFill>
              <a:latin typeface="Poppins"/>
              <a:ea typeface="Poppins"/>
              <a:cs typeface="Poppins"/>
              <a:sym typeface="Poppins"/>
            </a:endParaRPr>
          </a:p>
        </p:txBody>
      </p:sp>
      <p:grpSp>
        <p:nvGrpSpPr>
          <p:cNvPr id="218" name="Google Shape;218;p16"/>
          <p:cNvGrpSpPr/>
          <p:nvPr/>
        </p:nvGrpSpPr>
        <p:grpSpPr>
          <a:xfrm>
            <a:off x="676068" y="4466147"/>
            <a:ext cx="16935720" cy="4147301"/>
            <a:chOff x="0" y="0"/>
            <a:chExt cx="22580960" cy="5529734"/>
          </a:xfrm>
        </p:grpSpPr>
        <p:sp>
          <p:nvSpPr>
            <p:cNvPr id="219" name="Google Shape;219;p16"/>
            <p:cNvSpPr/>
            <p:nvPr/>
          </p:nvSpPr>
          <p:spPr>
            <a:xfrm>
              <a:off x="124429" y="3804905"/>
              <a:ext cx="5308077" cy="1724829"/>
            </a:xfrm>
            <a:custGeom>
              <a:rect b="b" l="l" r="r" t="t"/>
              <a:pathLst>
                <a:path extrusionOk="0" h="340707" w="1048509">
                  <a:moveTo>
                    <a:pt x="33060" y="0"/>
                  </a:moveTo>
                  <a:lnTo>
                    <a:pt x="1015449" y="0"/>
                  </a:lnTo>
                  <a:cubicBezTo>
                    <a:pt x="1033708" y="0"/>
                    <a:pt x="1048509" y="14801"/>
                    <a:pt x="1048509" y="33060"/>
                  </a:cubicBezTo>
                  <a:lnTo>
                    <a:pt x="1048509" y="307647"/>
                  </a:lnTo>
                  <a:cubicBezTo>
                    <a:pt x="1048509" y="325905"/>
                    <a:pt x="1033708" y="340707"/>
                    <a:pt x="1015449" y="340707"/>
                  </a:cubicBezTo>
                  <a:lnTo>
                    <a:pt x="33060" y="340707"/>
                  </a:lnTo>
                  <a:cubicBezTo>
                    <a:pt x="14801" y="340707"/>
                    <a:pt x="0" y="325905"/>
                    <a:pt x="0" y="307647"/>
                  </a:cubicBezTo>
                  <a:lnTo>
                    <a:pt x="0" y="33060"/>
                  </a:lnTo>
                  <a:cubicBezTo>
                    <a:pt x="0" y="14801"/>
                    <a:pt x="14801" y="0"/>
                    <a:pt x="33060"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5566297" y="3804905"/>
              <a:ext cx="5629358" cy="1724829"/>
            </a:xfrm>
            <a:custGeom>
              <a:rect b="b" l="l" r="r" t="t"/>
              <a:pathLst>
                <a:path extrusionOk="0" h="340707" w="1111972">
                  <a:moveTo>
                    <a:pt x="31173" y="0"/>
                  </a:moveTo>
                  <a:lnTo>
                    <a:pt x="1080799" y="0"/>
                  </a:lnTo>
                  <a:cubicBezTo>
                    <a:pt x="1089066" y="0"/>
                    <a:pt x="1096995" y="3284"/>
                    <a:pt x="1102841" y="9130"/>
                  </a:cubicBezTo>
                  <a:cubicBezTo>
                    <a:pt x="1108687" y="14976"/>
                    <a:pt x="1111972" y="22905"/>
                    <a:pt x="1111972" y="31173"/>
                  </a:cubicBezTo>
                  <a:lnTo>
                    <a:pt x="1111972" y="309534"/>
                  </a:lnTo>
                  <a:cubicBezTo>
                    <a:pt x="1111972" y="326750"/>
                    <a:pt x="1098015" y="340707"/>
                    <a:pt x="1080799" y="340707"/>
                  </a:cubicBezTo>
                  <a:lnTo>
                    <a:pt x="31173" y="340707"/>
                  </a:lnTo>
                  <a:cubicBezTo>
                    <a:pt x="22905" y="340707"/>
                    <a:pt x="14976" y="337422"/>
                    <a:pt x="9130" y="331576"/>
                  </a:cubicBezTo>
                  <a:cubicBezTo>
                    <a:pt x="3284" y="325730"/>
                    <a:pt x="0" y="317801"/>
                    <a:pt x="0" y="309534"/>
                  </a:cubicBezTo>
                  <a:lnTo>
                    <a:pt x="0" y="31173"/>
                  </a:lnTo>
                  <a:cubicBezTo>
                    <a:pt x="0" y="22905"/>
                    <a:pt x="3284" y="14976"/>
                    <a:pt x="9130" y="9130"/>
                  </a:cubicBezTo>
                  <a:cubicBezTo>
                    <a:pt x="14976" y="3284"/>
                    <a:pt x="22905" y="0"/>
                    <a:pt x="31173"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11357952" y="3804905"/>
              <a:ext cx="5555623" cy="1724829"/>
            </a:xfrm>
            <a:custGeom>
              <a:rect b="b" l="l" r="r" t="t"/>
              <a:pathLst>
                <a:path extrusionOk="0" h="340707" w="1097407">
                  <a:moveTo>
                    <a:pt x="31587" y="0"/>
                  </a:moveTo>
                  <a:lnTo>
                    <a:pt x="1065820" y="0"/>
                  </a:lnTo>
                  <a:cubicBezTo>
                    <a:pt x="1083265" y="0"/>
                    <a:pt x="1097407" y="14142"/>
                    <a:pt x="1097407" y="31587"/>
                  </a:cubicBezTo>
                  <a:lnTo>
                    <a:pt x="1097407" y="309120"/>
                  </a:lnTo>
                  <a:cubicBezTo>
                    <a:pt x="1097407" y="326565"/>
                    <a:pt x="1083265" y="340707"/>
                    <a:pt x="1065820" y="340707"/>
                  </a:cubicBezTo>
                  <a:lnTo>
                    <a:pt x="31587" y="340707"/>
                  </a:lnTo>
                  <a:cubicBezTo>
                    <a:pt x="23209" y="340707"/>
                    <a:pt x="15175" y="337379"/>
                    <a:pt x="9252" y="331455"/>
                  </a:cubicBezTo>
                  <a:cubicBezTo>
                    <a:pt x="3328" y="325531"/>
                    <a:pt x="0" y="317497"/>
                    <a:pt x="0" y="309120"/>
                  </a:cubicBezTo>
                  <a:lnTo>
                    <a:pt x="0" y="31587"/>
                  </a:lnTo>
                  <a:cubicBezTo>
                    <a:pt x="0" y="14142"/>
                    <a:pt x="14142" y="0"/>
                    <a:pt x="31587"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17099984" y="3804905"/>
              <a:ext cx="5480976" cy="1724829"/>
            </a:xfrm>
            <a:custGeom>
              <a:rect b="b" l="l" r="r" t="t"/>
              <a:pathLst>
                <a:path extrusionOk="0" h="340707" w="1082662">
                  <a:moveTo>
                    <a:pt x="32017" y="0"/>
                  </a:moveTo>
                  <a:lnTo>
                    <a:pt x="1050645" y="0"/>
                  </a:lnTo>
                  <a:cubicBezTo>
                    <a:pt x="1068328" y="0"/>
                    <a:pt x="1082662" y="14334"/>
                    <a:pt x="1082662" y="32017"/>
                  </a:cubicBezTo>
                  <a:lnTo>
                    <a:pt x="1082662" y="308690"/>
                  </a:lnTo>
                  <a:cubicBezTo>
                    <a:pt x="1082662" y="326372"/>
                    <a:pt x="1068328" y="340707"/>
                    <a:pt x="1050645" y="340707"/>
                  </a:cubicBezTo>
                  <a:lnTo>
                    <a:pt x="32017" y="340707"/>
                  </a:lnTo>
                  <a:cubicBezTo>
                    <a:pt x="23525" y="340707"/>
                    <a:pt x="15382" y="337333"/>
                    <a:pt x="9378" y="331329"/>
                  </a:cubicBezTo>
                  <a:cubicBezTo>
                    <a:pt x="3373" y="325325"/>
                    <a:pt x="0" y="317181"/>
                    <a:pt x="0" y="308690"/>
                  </a:cubicBezTo>
                  <a:lnTo>
                    <a:pt x="0" y="32017"/>
                  </a:lnTo>
                  <a:cubicBezTo>
                    <a:pt x="0" y="14334"/>
                    <a:pt x="14334" y="0"/>
                    <a:pt x="32017"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441929" y="4161296"/>
              <a:ext cx="1037661" cy="1037661"/>
            </a:xfrm>
            <a:custGeom>
              <a:rect b="b" l="l" r="r" t="t"/>
              <a:pathLst>
                <a:path extrusionOk="0" h="1037661" w="1037661">
                  <a:moveTo>
                    <a:pt x="0" y="0"/>
                  </a:moveTo>
                  <a:lnTo>
                    <a:pt x="1037662" y="0"/>
                  </a:lnTo>
                  <a:lnTo>
                    <a:pt x="1037662" y="1037662"/>
                  </a:lnTo>
                  <a:lnTo>
                    <a:pt x="0" y="1037662"/>
                  </a:lnTo>
                  <a:lnTo>
                    <a:pt x="0" y="0"/>
                  </a:lnTo>
                  <a:close/>
                </a:path>
              </a:pathLst>
            </a:custGeom>
            <a:blipFill rotWithShape="1">
              <a:blip r:embed="rId3">
                <a:alphaModFix/>
              </a:blip>
              <a:stretch>
                <a:fillRect b="0" l="0" r="0" t="0"/>
              </a:stretch>
            </a:blipFill>
            <a:ln>
              <a:noFill/>
            </a:ln>
            <a:effectLst>
              <a:outerShdw blurRad="57150" rotWithShape="0" algn="bl" dir="5400000" dist="19050">
                <a:srgbClr val="000000">
                  <a:alpha val="50000"/>
                </a:srgbClr>
              </a:outerShdw>
            </a:effectLst>
          </p:spPr>
        </p:sp>
        <p:sp>
          <p:nvSpPr>
            <p:cNvPr id="224" name="Google Shape;224;p16"/>
            <p:cNvSpPr/>
            <p:nvPr/>
          </p:nvSpPr>
          <p:spPr>
            <a:xfrm>
              <a:off x="5702387" y="4069420"/>
              <a:ext cx="1233253" cy="1231712"/>
            </a:xfrm>
            <a:custGeom>
              <a:rect b="b" l="l" r="r" t="t"/>
              <a:pathLst>
                <a:path extrusionOk="0" h="1231712" w="1233253">
                  <a:moveTo>
                    <a:pt x="0" y="0"/>
                  </a:moveTo>
                  <a:lnTo>
                    <a:pt x="1233253" y="0"/>
                  </a:lnTo>
                  <a:lnTo>
                    <a:pt x="1233253" y="1231712"/>
                  </a:lnTo>
                  <a:lnTo>
                    <a:pt x="0" y="1231712"/>
                  </a:lnTo>
                  <a:lnTo>
                    <a:pt x="0" y="0"/>
                  </a:lnTo>
                  <a:close/>
                </a:path>
              </a:pathLst>
            </a:custGeom>
            <a:blipFill rotWithShape="1">
              <a:blip r:embed="rId4">
                <a:alphaModFix/>
              </a:blip>
              <a:stretch>
                <a:fillRect b="0" l="0" r="0" t="0"/>
              </a:stretch>
            </a:blipFill>
            <a:ln>
              <a:noFill/>
            </a:ln>
            <a:effectLst>
              <a:outerShdw blurRad="57150" rotWithShape="0" algn="bl" dir="5400000" dist="19050">
                <a:srgbClr val="000000">
                  <a:alpha val="50000"/>
                </a:srgbClr>
              </a:outerShdw>
            </a:effectLst>
          </p:spPr>
        </p:sp>
        <p:sp>
          <p:nvSpPr>
            <p:cNvPr id="225" name="Google Shape;225;p16"/>
            <p:cNvSpPr/>
            <p:nvPr/>
          </p:nvSpPr>
          <p:spPr>
            <a:xfrm>
              <a:off x="11553517" y="3992048"/>
              <a:ext cx="1319180" cy="1324146"/>
            </a:xfrm>
            <a:custGeom>
              <a:rect b="b" l="l" r="r" t="t"/>
              <a:pathLst>
                <a:path extrusionOk="0" h="1324146" w="1319180">
                  <a:moveTo>
                    <a:pt x="0" y="0"/>
                  </a:moveTo>
                  <a:lnTo>
                    <a:pt x="1319181" y="0"/>
                  </a:lnTo>
                  <a:lnTo>
                    <a:pt x="1319181" y="1324146"/>
                  </a:lnTo>
                  <a:lnTo>
                    <a:pt x="0" y="1324146"/>
                  </a:lnTo>
                  <a:lnTo>
                    <a:pt x="0" y="0"/>
                  </a:lnTo>
                  <a:close/>
                </a:path>
              </a:pathLst>
            </a:custGeom>
            <a:blipFill rotWithShape="1">
              <a:blip r:embed="rId5">
                <a:alphaModFix/>
              </a:blip>
              <a:stretch>
                <a:fillRect b="0" l="0" r="0" t="0"/>
              </a:stretch>
            </a:blipFill>
            <a:ln>
              <a:noFill/>
            </a:ln>
            <a:effectLst>
              <a:outerShdw blurRad="57150" rotWithShape="0" algn="bl" dir="5400000" dist="19050">
                <a:srgbClr val="000000">
                  <a:alpha val="50000"/>
                </a:srgbClr>
              </a:outerShdw>
            </a:effectLst>
          </p:spPr>
        </p:sp>
        <p:sp>
          <p:nvSpPr>
            <p:cNvPr id="226" name="Google Shape;226;p16"/>
            <p:cNvSpPr/>
            <p:nvPr/>
          </p:nvSpPr>
          <p:spPr>
            <a:xfrm>
              <a:off x="17633059" y="3992338"/>
              <a:ext cx="262013" cy="554524"/>
            </a:xfrm>
            <a:custGeom>
              <a:rect b="b" l="l" r="r" t="t"/>
              <a:pathLst>
                <a:path extrusionOk="0" h="554524" w="262013">
                  <a:moveTo>
                    <a:pt x="0" y="0"/>
                  </a:moveTo>
                  <a:lnTo>
                    <a:pt x="262012" y="0"/>
                  </a:lnTo>
                  <a:lnTo>
                    <a:pt x="262012" y="554524"/>
                  </a:lnTo>
                  <a:lnTo>
                    <a:pt x="0" y="554524"/>
                  </a:lnTo>
                  <a:lnTo>
                    <a:pt x="0" y="0"/>
                  </a:lnTo>
                  <a:close/>
                </a:path>
              </a:pathLst>
            </a:custGeom>
            <a:blipFill rotWithShape="1">
              <a:blip r:embed="rId6">
                <a:alphaModFix/>
              </a:blip>
              <a:stretch>
                <a:fillRect b="0" l="0" r="0" t="0"/>
              </a:stretch>
            </a:blipFill>
            <a:ln>
              <a:noFill/>
            </a:ln>
            <a:effectLst>
              <a:outerShdw blurRad="57150" rotWithShape="0" algn="bl" dir="5400000" dist="19050">
                <a:srgbClr val="000000">
                  <a:alpha val="50000"/>
                </a:srgbClr>
              </a:outerShdw>
            </a:effectLst>
          </p:spPr>
        </p:sp>
        <p:sp>
          <p:nvSpPr>
            <p:cNvPr id="227" name="Google Shape;227;p16"/>
            <p:cNvSpPr/>
            <p:nvPr/>
          </p:nvSpPr>
          <p:spPr>
            <a:xfrm>
              <a:off x="17517864" y="4786876"/>
              <a:ext cx="492402" cy="492402"/>
            </a:xfrm>
            <a:custGeom>
              <a:rect b="b" l="l" r="r" t="t"/>
              <a:pathLst>
                <a:path extrusionOk="0" h="492402" w="492402">
                  <a:moveTo>
                    <a:pt x="0" y="0"/>
                  </a:moveTo>
                  <a:lnTo>
                    <a:pt x="492402" y="0"/>
                  </a:lnTo>
                  <a:lnTo>
                    <a:pt x="492402" y="492402"/>
                  </a:lnTo>
                  <a:lnTo>
                    <a:pt x="0" y="492402"/>
                  </a:lnTo>
                  <a:lnTo>
                    <a:pt x="0" y="0"/>
                  </a:lnTo>
                  <a:close/>
                </a:path>
              </a:pathLst>
            </a:custGeom>
            <a:blipFill rotWithShape="1">
              <a:blip r:embed="rId7">
                <a:alphaModFix/>
              </a:blip>
              <a:stretch>
                <a:fillRect b="0" l="0" r="0" t="0"/>
              </a:stretch>
            </a:blipFill>
            <a:ln>
              <a:noFill/>
            </a:ln>
          </p:spPr>
        </p:sp>
        <p:sp>
          <p:nvSpPr>
            <p:cNvPr id="228" name="Google Shape;228;p16"/>
            <p:cNvSpPr txBox="1"/>
            <p:nvPr/>
          </p:nvSpPr>
          <p:spPr>
            <a:xfrm>
              <a:off x="2492506" y="4048287"/>
              <a:ext cx="24729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AGE</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18- 34  ( 28%)</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35- 44 (25%)</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45 - 54 (24%)</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55+ (22%)</a:t>
              </a:r>
              <a:endParaRPr>
                <a:solidFill>
                  <a:schemeClr val="dk1"/>
                </a:solidFill>
              </a:endParaRPr>
            </a:p>
          </p:txBody>
        </p:sp>
        <p:sp>
          <p:nvSpPr>
            <p:cNvPr id="229" name="Google Shape;229;p16"/>
            <p:cNvSpPr txBox="1"/>
            <p:nvPr/>
          </p:nvSpPr>
          <p:spPr>
            <a:xfrm>
              <a:off x="8027840" y="3963763"/>
              <a:ext cx="30252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200" u="none" cap="none" strike="noStrike">
                  <a:solidFill>
                    <a:schemeClr val="dk1"/>
                  </a:solidFill>
                  <a:latin typeface="Poppins"/>
                  <a:ea typeface="Poppins"/>
                  <a:cs typeface="Poppins"/>
                  <a:sym typeface="Poppins"/>
                </a:rPr>
                <a:t>RACE (Sample Date)</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Indian 6%</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Black 69%</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Coloured 11%</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White 10%</a:t>
              </a:r>
              <a:endParaRPr>
                <a:solidFill>
                  <a:schemeClr val="dk1"/>
                </a:solidFill>
              </a:endParaRPr>
            </a:p>
          </p:txBody>
        </p:sp>
        <p:sp>
          <p:nvSpPr>
            <p:cNvPr id="230" name="Google Shape;230;p16"/>
            <p:cNvSpPr txBox="1"/>
            <p:nvPr/>
          </p:nvSpPr>
          <p:spPr>
            <a:xfrm>
              <a:off x="13857176" y="4045755"/>
              <a:ext cx="28755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1" lang="en-US" sz="1200" u="none" cap="none" strike="noStrike">
                  <a:solidFill>
                    <a:schemeClr val="dk1"/>
                  </a:solidFill>
                  <a:latin typeface="Poppins"/>
                  <a:ea typeface="Poppins"/>
                  <a:cs typeface="Poppins"/>
                  <a:sym typeface="Poppins"/>
                </a:rPr>
                <a:t>SEM Sample Date</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1-2 (5%)</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3-5 (15%)</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6-7 (24%)</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8-10 (48%)</a:t>
              </a:r>
              <a:endParaRPr>
                <a:solidFill>
                  <a:schemeClr val="dk1"/>
                </a:solidFill>
              </a:endParaRPr>
            </a:p>
          </p:txBody>
        </p:sp>
        <p:sp>
          <p:nvSpPr>
            <p:cNvPr id="231" name="Google Shape;231;p16"/>
            <p:cNvSpPr txBox="1"/>
            <p:nvPr/>
          </p:nvSpPr>
          <p:spPr>
            <a:xfrm>
              <a:off x="17990006" y="4000249"/>
              <a:ext cx="16077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FACEBOOK</a:t>
              </a:r>
              <a:endParaRPr>
                <a:solidFill>
                  <a:schemeClr val="dk1"/>
                </a:solidFill>
              </a:endParaRPr>
            </a:p>
            <a:p>
              <a:pPr indent="0" lvl="0" marL="0" marR="0" rtl="0" algn="ctr">
                <a:lnSpc>
                  <a:spcPct val="139916"/>
                </a:lnSpc>
                <a:spcBef>
                  <a:spcPts val="0"/>
                </a:spcBef>
                <a:spcAft>
                  <a:spcPts val="0"/>
                </a:spcAft>
                <a:buNone/>
              </a:pPr>
              <a:r>
                <a:rPr lang="en-US" sz="1200">
                  <a:solidFill>
                    <a:schemeClr val="dk1"/>
                  </a:solidFill>
                  <a:latin typeface="Poppins"/>
                  <a:ea typeface="Poppins"/>
                  <a:cs typeface="Poppins"/>
                  <a:sym typeface="Poppins"/>
                </a:rPr>
                <a:t>5.3</a:t>
              </a:r>
              <a:r>
                <a:rPr b="0" i="0" lang="en-US" sz="1200" u="none" cap="none" strike="noStrike">
                  <a:solidFill>
                    <a:schemeClr val="dk1"/>
                  </a:solidFill>
                  <a:latin typeface="Poppins"/>
                  <a:ea typeface="Poppins"/>
                  <a:cs typeface="Poppins"/>
                  <a:sym typeface="Poppins"/>
                </a:rPr>
                <a:t> m</a:t>
              </a:r>
              <a:endParaRPr>
                <a:solidFill>
                  <a:schemeClr val="dk1"/>
                </a:solidFill>
              </a:endParaRPr>
            </a:p>
          </p:txBody>
        </p:sp>
        <p:sp>
          <p:nvSpPr>
            <p:cNvPr id="232" name="Google Shape;232;p16"/>
            <p:cNvSpPr txBox="1"/>
            <p:nvPr/>
          </p:nvSpPr>
          <p:spPr>
            <a:xfrm>
              <a:off x="18010266" y="4801780"/>
              <a:ext cx="17604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INSTAGRAM</a:t>
              </a:r>
              <a:endParaRPr>
                <a:solidFill>
                  <a:schemeClr val="dk1"/>
                </a:solidFill>
              </a:endParaRPr>
            </a:p>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44</a:t>
              </a:r>
              <a:r>
                <a:rPr lang="en-US" sz="1200">
                  <a:solidFill>
                    <a:schemeClr val="dk1"/>
                  </a:solidFill>
                  <a:latin typeface="Poppins"/>
                  <a:ea typeface="Poppins"/>
                  <a:cs typeface="Poppins"/>
                  <a:sym typeface="Poppins"/>
                </a:rPr>
                <a:t>5</a:t>
              </a:r>
              <a:r>
                <a:rPr b="0" i="0" lang="en-US" sz="1200" u="none" cap="none" strike="noStrike">
                  <a:solidFill>
                    <a:schemeClr val="dk1"/>
                  </a:solidFill>
                  <a:latin typeface="Poppins"/>
                  <a:ea typeface="Poppins"/>
                  <a:cs typeface="Poppins"/>
                  <a:sym typeface="Poppins"/>
                </a:rPr>
                <a:t>K</a:t>
              </a:r>
              <a:endParaRPr>
                <a:solidFill>
                  <a:schemeClr val="dk1"/>
                </a:solidFill>
              </a:endParaRPr>
            </a:p>
          </p:txBody>
        </p:sp>
        <p:sp>
          <p:nvSpPr>
            <p:cNvPr id="233" name="Google Shape;233;p16"/>
            <p:cNvSpPr txBox="1"/>
            <p:nvPr/>
          </p:nvSpPr>
          <p:spPr>
            <a:xfrm>
              <a:off x="20677068" y="3992230"/>
              <a:ext cx="16077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TIKTOK</a:t>
              </a:r>
              <a:endParaRPr>
                <a:solidFill>
                  <a:schemeClr val="dk1"/>
                </a:solidFill>
              </a:endParaRPr>
            </a:p>
            <a:p>
              <a:pPr indent="0" lvl="0" marL="0" marR="0" rtl="0" algn="ctr">
                <a:lnSpc>
                  <a:spcPct val="139916"/>
                </a:lnSpc>
                <a:spcBef>
                  <a:spcPts val="0"/>
                </a:spcBef>
                <a:spcAft>
                  <a:spcPts val="0"/>
                </a:spcAft>
                <a:buNone/>
              </a:pPr>
              <a:r>
                <a:rPr lang="en-US" sz="1200">
                  <a:solidFill>
                    <a:schemeClr val="dk1"/>
                  </a:solidFill>
                  <a:latin typeface="Poppins"/>
                  <a:ea typeface="Poppins"/>
                  <a:cs typeface="Poppins"/>
                  <a:sym typeface="Poppins"/>
                </a:rPr>
                <a:t>1 m</a:t>
              </a:r>
              <a:endParaRPr>
                <a:solidFill>
                  <a:schemeClr val="dk1"/>
                </a:solidFill>
              </a:endParaRPr>
            </a:p>
          </p:txBody>
        </p:sp>
        <p:sp>
          <p:nvSpPr>
            <p:cNvPr id="234" name="Google Shape;234;p16"/>
            <p:cNvSpPr txBox="1"/>
            <p:nvPr/>
          </p:nvSpPr>
          <p:spPr>
            <a:xfrm>
              <a:off x="20654073" y="4801780"/>
              <a:ext cx="16077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X</a:t>
              </a:r>
              <a:endParaRPr>
                <a:solidFill>
                  <a:schemeClr val="dk1"/>
                </a:solidFill>
              </a:endParaRPr>
            </a:p>
            <a:p>
              <a:pPr indent="0" lvl="0" marL="0" marR="0" rtl="0" algn="ctr">
                <a:lnSpc>
                  <a:spcPct val="139916"/>
                </a:lnSpc>
                <a:spcBef>
                  <a:spcPts val="0"/>
                </a:spcBef>
                <a:spcAft>
                  <a:spcPts val="0"/>
                </a:spcAft>
                <a:buNone/>
              </a:pPr>
              <a:r>
                <a:rPr lang="en-US" sz="1200">
                  <a:solidFill>
                    <a:schemeClr val="dk1"/>
                  </a:solidFill>
                  <a:latin typeface="Poppins"/>
                  <a:ea typeface="Poppins"/>
                  <a:cs typeface="Poppins"/>
                  <a:sym typeface="Poppins"/>
                </a:rPr>
                <a:t>1.8</a:t>
              </a:r>
              <a:r>
                <a:rPr b="0" i="0" lang="en-US" sz="1200" u="none" cap="none" strike="noStrike">
                  <a:solidFill>
                    <a:schemeClr val="dk1"/>
                  </a:solidFill>
                  <a:latin typeface="Poppins"/>
                  <a:ea typeface="Poppins"/>
                  <a:cs typeface="Poppins"/>
                  <a:sym typeface="Poppins"/>
                </a:rPr>
                <a:t> m</a:t>
              </a:r>
              <a:endParaRPr>
                <a:solidFill>
                  <a:schemeClr val="dk1"/>
                </a:solidFill>
              </a:endParaRPr>
            </a:p>
          </p:txBody>
        </p:sp>
        <p:sp>
          <p:nvSpPr>
            <p:cNvPr id="235" name="Google Shape;235;p16"/>
            <p:cNvSpPr/>
            <p:nvPr/>
          </p:nvSpPr>
          <p:spPr>
            <a:xfrm>
              <a:off x="0" y="0"/>
              <a:ext cx="5457582" cy="1405628"/>
            </a:xfrm>
            <a:custGeom>
              <a:rect b="b" l="l" r="r" t="t"/>
              <a:pathLst>
                <a:path extrusionOk="0" h="302611" w="1174937">
                  <a:moveTo>
                    <a:pt x="32160" y="0"/>
                  </a:moveTo>
                  <a:lnTo>
                    <a:pt x="1142778" y="0"/>
                  </a:lnTo>
                  <a:cubicBezTo>
                    <a:pt x="1160539" y="0"/>
                    <a:pt x="1174937" y="14398"/>
                    <a:pt x="1174937" y="32160"/>
                  </a:cubicBezTo>
                  <a:lnTo>
                    <a:pt x="1174937" y="270451"/>
                  </a:lnTo>
                  <a:cubicBezTo>
                    <a:pt x="1174937" y="288212"/>
                    <a:pt x="1160539" y="302611"/>
                    <a:pt x="1142778" y="302611"/>
                  </a:cubicBezTo>
                  <a:lnTo>
                    <a:pt x="32160" y="302611"/>
                  </a:lnTo>
                  <a:cubicBezTo>
                    <a:pt x="14398" y="302611"/>
                    <a:pt x="0" y="288212"/>
                    <a:pt x="0" y="270451"/>
                  </a:cubicBezTo>
                  <a:lnTo>
                    <a:pt x="0" y="32160"/>
                  </a:lnTo>
                  <a:cubicBezTo>
                    <a:pt x="0" y="14398"/>
                    <a:pt x="14398" y="0"/>
                    <a:pt x="32160" y="0"/>
                  </a:cubicBezTo>
                  <a:close/>
                </a:path>
              </a:pathLst>
            </a:custGeom>
            <a:solidFill>
              <a:srgbClr val="FFFFF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5591064" y="0"/>
              <a:ext cx="5563419" cy="1405628"/>
            </a:xfrm>
            <a:custGeom>
              <a:rect b="b" l="l" r="r" t="t"/>
              <a:pathLst>
                <a:path extrusionOk="0" h="302611" w="1197722">
                  <a:moveTo>
                    <a:pt x="31548" y="0"/>
                  </a:moveTo>
                  <a:lnTo>
                    <a:pt x="1166174" y="0"/>
                  </a:lnTo>
                  <a:cubicBezTo>
                    <a:pt x="1183597" y="0"/>
                    <a:pt x="1197722" y="14125"/>
                    <a:pt x="1197722" y="31548"/>
                  </a:cubicBezTo>
                  <a:lnTo>
                    <a:pt x="1197722" y="271063"/>
                  </a:lnTo>
                  <a:cubicBezTo>
                    <a:pt x="1197722" y="279430"/>
                    <a:pt x="1194398" y="287454"/>
                    <a:pt x="1188482" y="293371"/>
                  </a:cubicBezTo>
                  <a:cubicBezTo>
                    <a:pt x="1182565" y="299287"/>
                    <a:pt x="1174541" y="302611"/>
                    <a:pt x="1166174" y="302611"/>
                  </a:cubicBezTo>
                  <a:lnTo>
                    <a:pt x="31548" y="302611"/>
                  </a:lnTo>
                  <a:cubicBezTo>
                    <a:pt x="23181" y="302611"/>
                    <a:pt x="15157" y="299287"/>
                    <a:pt x="9240" y="293371"/>
                  </a:cubicBezTo>
                  <a:cubicBezTo>
                    <a:pt x="3324" y="287454"/>
                    <a:pt x="0" y="279430"/>
                    <a:pt x="0" y="271063"/>
                  </a:cubicBezTo>
                  <a:lnTo>
                    <a:pt x="0" y="31548"/>
                  </a:lnTo>
                  <a:cubicBezTo>
                    <a:pt x="0" y="23181"/>
                    <a:pt x="3324" y="15157"/>
                    <a:pt x="9240" y="9240"/>
                  </a:cubicBezTo>
                  <a:cubicBezTo>
                    <a:pt x="15157" y="3324"/>
                    <a:pt x="23181" y="0"/>
                    <a:pt x="31548" y="0"/>
                  </a:cubicBezTo>
                  <a:close/>
                </a:path>
              </a:pathLst>
            </a:custGeom>
            <a:solidFill>
              <a:srgbClr val="FFFFF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11374845" y="0"/>
              <a:ext cx="5481959" cy="1405628"/>
            </a:xfrm>
            <a:custGeom>
              <a:rect b="b" l="l" r="r" t="t"/>
              <a:pathLst>
                <a:path extrusionOk="0" h="302611" w="1180185">
                  <a:moveTo>
                    <a:pt x="32017" y="0"/>
                  </a:moveTo>
                  <a:lnTo>
                    <a:pt x="1148168" y="0"/>
                  </a:lnTo>
                  <a:cubicBezTo>
                    <a:pt x="1156660" y="0"/>
                    <a:pt x="1164803" y="3373"/>
                    <a:pt x="1170808" y="9378"/>
                  </a:cubicBezTo>
                  <a:cubicBezTo>
                    <a:pt x="1176812" y="15382"/>
                    <a:pt x="1180185" y="23525"/>
                    <a:pt x="1180185" y="32017"/>
                  </a:cubicBezTo>
                  <a:lnTo>
                    <a:pt x="1180185" y="270594"/>
                  </a:lnTo>
                  <a:cubicBezTo>
                    <a:pt x="1180185" y="288276"/>
                    <a:pt x="1165851" y="302611"/>
                    <a:pt x="1148168" y="302611"/>
                  </a:cubicBezTo>
                  <a:lnTo>
                    <a:pt x="32017" y="302611"/>
                  </a:lnTo>
                  <a:cubicBezTo>
                    <a:pt x="14334" y="302611"/>
                    <a:pt x="0" y="288276"/>
                    <a:pt x="0" y="270594"/>
                  </a:cubicBezTo>
                  <a:lnTo>
                    <a:pt x="0" y="32017"/>
                  </a:lnTo>
                  <a:cubicBezTo>
                    <a:pt x="0" y="14334"/>
                    <a:pt x="14334" y="0"/>
                    <a:pt x="32017" y="0"/>
                  </a:cubicBezTo>
                  <a:close/>
                </a:path>
              </a:pathLst>
            </a:custGeom>
            <a:solidFill>
              <a:srgbClr val="FFFFF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317500" y="309657"/>
              <a:ext cx="1004601" cy="837586"/>
            </a:xfrm>
            <a:custGeom>
              <a:rect b="b" l="l" r="r" t="t"/>
              <a:pathLst>
                <a:path extrusionOk="0" h="837586" w="1004601">
                  <a:moveTo>
                    <a:pt x="0" y="0"/>
                  </a:moveTo>
                  <a:lnTo>
                    <a:pt x="1004601" y="0"/>
                  </a:lnTo>
                  <a:lnTo>
                    <a:pt x="1004601" y="837586"/>
                  </a:lnTo>
                  <a:lnTo>
                    <a:pt x="0" y="837586"/>
                  </a:lnTo>
                  <a:lnTo>
                    <a:pt x="0" y="0"/>
                  </a:lnTo>
                  <a:close/>
                </a:path>
              </a:pathLst>
            </a:custGeom>
            <a:blipFill rotWithShape="1">
              <a:blip r:embed="rId8">
                <a:alphaModFix/>
              </a:blip>
              <a:stretch>
                <a:fillRect b="0" l="0" r="0" t="0"/>
              </a:stretch>
            </a:blipFill>
            <a:ln>
              <a:noFill/>
            </a:ln>
          </p:spPr>
        </p:sp>
        <p:sp>
          <p:nvSpPr>
            <p:cNvPr id="239" name="Google Shape;239;p16"/>
            <p:cNvSpPr/>
            <p:nvPr/>
          </p:nvSpPr>
          <p:spPr>
            <a:xfrm>
              <a:off x="11697532" y="132477"/>
              <a:ext cx="745203" cy="1189945"/>
            </a:xfrm>
            <a:custGeom>
              <a:rect b="b" l="l" r="r" t="t"/>
              <a:pathLst>
                <a:path extrusionOk="0" h="1189945" w="745203">
                  <a:moveTo>
                    <a:pt x="0" y="0"/>
                  </a:moveTo>
                  <a:lnTo>
                    <a:pt x="745203" y="0"/>
                  </a:lnTo>
                  <a:lnTo>
                    <a:pt x="745203" y="1189945"/>
                  </a:lnTo>
                  <a:lnTo>
                    <a:pt x="0" y="1189945"/>
                  </a:lnTo>
                  <a:lnTo>
                    <a:pt x="0" y="0"/>
                  </a:lnTo>
                  <a:close/>
                </a:path>
              </a:pathLst>
            </a:custGeom>
            <a:blipFill rotWithShape="1">
              <a:blip r:embed="rId9">
                <a:alphaModFix/>
              </a:blip>
              <a:stretch>
                <a:fillRect b="0" l="0" r="0" t="0"/>
              </a:stretch>
            </a:blipFill>
            <a:ln>
              <a:noFill/>
            </a:ln>
          </p:spPr>
        </p:sp>
        <p:sp>
          <p:nvSpPr>
            <p:cNvPr id="240" name="Google Shape;240;p16"/>
            <p:cNvSpPr/>
            <p:nvPr/>
          </p:nvSpPr>
          <p:spPr>
            <a:xfrm>
              <a:off x="17042231" y="0"/>
              <a:ext cx="5481959" cy="1405628"/>
            </a:xfrm>
            <a:custGeom>
              <a:rect b="b" l="l" r="r" t="t"/>
              <a:pathLst>
                <a:path extrusionOk="0" h="302611" w="1180185">
                  <a:moveTo>
                    <a:pt x="32017" y="0"/>
                  </a:moveTo>
                  <a:lnTo>
                    <a:pt x="1148168" y="0"/>
                  </a:lnTo>
                  <a:cubicBezTo>
                    <a:pt x="1156660" y="0"/>
                    <a:pt x="1164803" y="3373"/>
                    <a:pt x="1170808" y="9378"/>
                  </a:cubicBezTo>
                  <a:cubicBezTo>
                    <a:pt x="1176812" y="15382"/>
                    <a:pt x="1180185" y="23525"/>
                    <a:pt x="1180185" y="32017"/>
                  </a:cubicBezTo>
                  <a:lnTo>
                    <a:pt x="1180185" y="270594"/>
                  </a:lnTo>
                  <a:cubicBezTo>
                    <a:pt x="1180185" y="288276"/>
                    <a:pt x="1165851" y="302611"/>
                    <a:pt x="1148168" y="302611"/>
                  </a:cubicBezTo>
                  <a:lnTo>
                    <a:pt x="32017" y="302611"/>
                  </a:lnTo>
                  <a:cubicBezTo>
                    <a:pt x="14334" y="302611"/>
                    <a:pt x="0" y="288276"/>
                    <a:pt x="0" y="270594"/>
                  </a:cubicBezTo>
                  <a:lnTo>
                    <a:pt x="0" y="32017"/>
                  </a:lnTo>
                  <a:cubicBezTo>
                    <a:pt x="0" y="14334"/>
                    <a:pt x="14334" y="0"/>
                    <a:pt x="32017" y="0"/>
                  </a:cubicBezTo>
                  <a:close/>
                </a:path>
              </a:pathLst>
            </a:custGeom>
            <a:solidFill>
              <a:srgbClr val="FFFFF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txBox="1"/>
            <p:nvPr/>
          </p:nvSpPr>
          <p:spPr>
            <a:xfrm>
              <a:off x="2014443" y="326021"/>
              <a:ext cx="2008800" cy="935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rgbClr val="000000"/>
                  </a:solidFill>
                  <a:latin typeface="Poppins"/>
                  <a:ea typeface="Poppins"/>
                  <a:cs typeface="Poppins"/>
                  <a:sym typeface="Poppins"/>
                </a:rPr>
                <a:t>Average USERS p/m</a:t>
              </a:r>
              <a:endParaRPr>
                <a:solidFill>
                  <a:srgbClr val="000000"/>
                </a:solidFill>
              </a:endParaRPr>
            </a:p>
            <a:p>
              <a:pPr indent="0" lvl="0" marL="0" marR="0" rtl="0" algn="ctr">
                <a:lnSpc>
                  <a:spcPct val="139916"/>
                </a:lnSpc>
                <a:spcBef>
                  <a:spcPts val="0"/>
                </a:spcBef>
                <a:spcAft>
                  <a:spcPts val="0"/>
                </a:spcAft>
                <a:buNone/>
              </a:pPr>
              <a:r>
                <a:rPr b="1" i="0" lang="en-US" sz="1200" u="none" cap="none" strike="noStrike">
                  <a:solidFill>
                    <a:srgbClr val="000000"/>
                  </a:solidFill>
                  <a:latin typeface="Poppins"/>
                  <a:ea typeface="Poppins"/>
                  <a:cs typeface="Poppins"/>
                  <a:sym typeface="Poppins"/>
                </a:rPr>
                <a:t>16.5 million</a:t>
              </a:r>
              <a:endParaRPr>
                <a:solidFill>
                  <a:srgbClr val="000000"/>
                </a:solidFill>
              </a:endParaRPr>
            </a:p>
          </p:txBody>
        </p:sp>
        <p:sp>
          <p:nvSpPr>
            <p:cNvPr id="242" name="Google Shape;242;p16"/>
            <p:cNvSpPr txBox="1"/>
            <p:nvPr/>
          </p:nvSpPr>
          <p:spPr>
            <a:xfrm>
              <a:off x="7704943" y="255454"/>
              <a:ext cx="2585700" cy="935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rgbClr val="000000"/>
                  </a:solidFill>
                  <a:latin typeface="Poppins"/>
                  <a:ea typeface="Poppins"/>
                  <a:cs typeface="Poppins"/>
                  <a:sym typeface="Poppins"/>
                </a:rPr>
                <a:t>Average PAGE VIEWS p/m</a:t>
              </a:r>
              <a:endParaRPr>
                <a:solidFill>
                  <a:srgbClr val="000000"/>
                </a:solidFill>
              </a:endParaRPr>
            </a:p>
            <a:p>
              <a:pPr indent="0" lvl="0" marL="0" marR="0" rtl="0" algn="ctr">
                <a:lnSpc>
                  <a:spcPct val="139916"/>
                </a:lnSpc>
                <a:spcBef>
                  <a:spcPts val="0"/>
                </a:spcBef>
                <a:spcAft>
                  <a:spcPts val="0"/>
                </a:spcAft>
                <a:buNone/>
              </a:pPr>
              <a:r>
                <a:rPr b="1" i="0" lang="en-US" sz="1200" u="none" cap="none" strike="noStrike">
                  <a:solidFill>
                    <a:srgbClr val="000000"/>
                  </a:solidFill>
                  <a:latin typeface="Poppins"/>
                  <a:ea typeface="Poppins"/>
                  <a:cs typeface="Poppins"/>
                  <a:sym typeface="Poppins"/>
                </a:rPr>
                <a:t>53 million</a:t>
              </a:r>
              <a:endParaRPr>
                <a:solidFill>
                  <a:srgbClr val="000000"/>
                </a:solidFill>
              </a:endParaRPr>
            </a:p>
          </p:txBody>
        </p:sp>
        <p:sp>
          <p:nvSpPr>
            <p:cNvPr id="243" name="Google Shape;243;p16"/>
            <p:cNvSpPr txBox="1"/>
            <p:nvPr/>
          </p:nvSpPr>
          <p:spPr>
            <a:xfrm>
              <a:off x="13399409" y="254321"/>
              <a:ext cx="2686200" cy="935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rgbClr val="000000"/>
                  </a:solidFill>
                  <a:latin typeface="Poppins"/>
                  <a:ea typeface="Poppins"/>
                  <a:cs typeface="Poppins"/>
                  <a:sym typeface="Poppins"/>
                </a:rPr>
                <a:t>Average IMPRESSIONS p/m</a:t>
              </a:r>
              <a:endParaRPr>
                <a:solidFill>
                  <a:srgbClr val="000000"/>
                </a:solidFill>
              </a:endParaRPr>
            </a:p>
            <a:p>
              <a:pPr indent="0" lvl="0" marL="0" marR="0" rtl="0" algn="ctr">
                <a:lnSpc>
                  <a:spcPct val="139916"/>
                </a:lnSpc>
                <a:spcBef>
                  <a:spcPts val="0"/>
                </a:spcBef>
                <a:spcAft>
                  <a:spcPts val="0"/>
                </a:spcAft>
                <a:buNone/>
              </a:pPr>
              <a:r>
                <a:rPr b="1" lang="en-US" sz="1200">
                  <a:latin typeface="Poppins"/>
                  <a:ea typeface="Poppins"/>
                  <a:cs typeface="Poppins"/>
                  <a:sym typeface="Poppins"/>
                </a:rPr>
                <a:t>205.5</a:t>
              </a:r>
              <a:r>
                <a:rPr b="1" i="0" lang="en-US" sz="1200" u="none" cap="none" strike="noStrike">
                  <a:solidFill>
                    <a:srgbClr val="000000"/>
                  </a:solidFill>
                  <a:latin typeface="Poppins"/>
                  <a:ea typeface="Poppins"/>
                  <a:cs typeface="Poppins"/>
                  <a:sym typeface="Poppins"/>
                </a:rPr>
                <a:t> million</a:t>
              </a:r>
              <a:endParaRPr>
                <a:solidFill>
                  <a:srgbClr val="000000"/>
                </a:solidFill>
              </a:endParaRPr>
            </a:p>
          </p:txBody>
        </p:sp>
        <p:sp>
          <p:nvSpPr>
            <p:cNvPr id="244" name="Google Shape;244;p16"/>
            <p:cNvSpPr txBox="1"/>
            <p:nvPr/>
          </p:nvSpPr>
          <p:spPr>
            <a:xfrm>
              <a:off x="19371843" y="132888"/>
              <a:ext cx="2245800" cy="935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rgbClr val="000000"/>
                  </a:solidFill>
                  <a:latin typeface="Poppins"/>
                  <a:ea typeface="Poppins"/>
                  <a:cs typeface="Poppins"/>
                  <a:sym typeface="Poppins"/>
                </a:rPr>
                <a:t>Social Media followers</a:t>
              </a:r>
              <a:endParaRPr>
                <a:solidFill>
                  <a:srgbClr val="000000"/>
                </a:solidFill>
              </a:endParaRPr>
            </a:p>
            <a:p>
              <a:pPr indent="0" lvl="0" marL="0" marR="0" rtl="0" algn="ctr">
                <a:lnSpc>
                  <a:spcPct val="139916"/>
                </a:lnSpc>
                <a:spcBef>
                  <a:spcPts val="0"/>
                </a:spcBef>
                <a:spcAft>
                  <a:spcPts val="0"/>
                </a:spcAft>
                <a:buNone/>
              </a:pPr>
              <a:r>
                <a:rPr b="1" i="0" lang="en-US" sz="1200" u="none" cap="none" strike="noStrike">
                  <a:solidFill>
                    <a:srgbClr val="000000"/>
                  </a:solidFill>
                  <a:latin typeface="Poppins"/>
                  <a:ea typeface="Poppins"/>
                  <a:cs typeface="Poppins"/>
                  <a:sym typeface="Poppins"/>
                </a:rPr>
                <a:t>8.</a:t>
              </a:r>
              <a:r>
                <a:rPr b="1" lang="en-US" sz="1200">
                  <a:solidFill>
                    <a:srgbClr val="000000"/>
                  </a:solidFill>
                  <a:latin typeface="Poppins"/>
                  <a:ea typeface="Poppins"/>
                  <a:cs typeface="Poppins"/>
                  <a:sym typeface="Poppins"/>
                </a:rPr>
                <a:t>7</a:t>
              </a:r>
              <a:r>
                <a:rPr b="1" i="0" lang="en-US" sz="1200" u="none" cap="none" strike="noStrike">
                  <a:solidFill>
                    <a:srgbClr val="000000"/>
                  </a:solidFill>
                  <a:latin typeface="Poppins"/>
                  <a:ea typeface="Poppins"/>
                  <a:cs typeface="Poppins"/>
                  <a:sym typeface="Poppins"/>
                </a:rPr>
                <a:t> million</a:t>
              </a:r>
              <a:endParaRPr>
                <a:solidFill>
                  <a:srgbClr val="000000"/>
                </a:solidFill>
              </a:endParaRPr>
            </a:p>
          </p:txBody>
        </p:sp>
        <p:sp>
          <p:nvSpPr>
            <p:cNvPr id="245" name="Google Shape;245;p16"/>
            <p:cNvSpPr/>
            <p:nvPr/>
          </p:nvSpPr>
          <p:spPr>
            <a:xfrm>
              <a:off x="66676" y="1710175"/>
              <a:ext cx="5308077" cy="1662930"/>
            </a:xfrm>
            <a:custGeom>
              <a:rect b="b" l="l" r="r" t="t"/>
              <a:pathLst>
                <a:path extrusionOk="0" h="328480" w="1048509">
                  <a:moveTo>
                    <a:pt x="33060" y="0"/>
                  </a:moveTo>
                  <a:lnTo>
                    <a:pt x="1015449" y="0"/>
                  </a:lnTo>
                  <a:cubicBezTo>
                    <a:pt x="1033708" y="0"/>
                    <a:pt x="1048509" y="14801"/>
                    <a:pt x="1048509" y="33060"/>
                  </a:cubicBezTo>
                  <a:lnTo>
                    <a:pt x="1048509" y="295420"/>
                  </a:lnTo>
                  <a:cubicBezTo>
                    <a:pt x="1048509" y="313679"/>
                    <a:pt x="1033708" y="328480"/>
                    <a:pt x="1015449" y="328480"/>
                  </a:cubicBezTo>
                  <a:lnTo>
                    <a:pt x="33060" y="328480"/>
                  </a:lnTo>
                  <a:cubicBezTo>
                    <a:pt x="14801" y="328480"/>
                    <a:pt x="0" y="313679"/>
                    <a:pt x="0" y="295420"/>
                  </a:cubicBezTo>
                  <a:lnTo>
                    <a:pt x="0" y="33060"/>
                  </a:lnTo>
                  <a:cubicBezTo>
                    <a:pt x="0" y="14801"/>
                    <a:pt x="14801" y="0"/>
                    <a:pt x="33060"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5508543" y="1710175"/>
              <a:ext cx="5629358" cy="1662930"/>
            </a:xfrm>
            <a:custGeom>
              <a:rect b="b" l="l" r="r" t="t"/>
              <a:pathLst>
                <a:path extrusionOk="0" h="328480" w="1111972">
                  <a:moveTo>
                    <a:pt x="31173" y="0"/>
                  </a:moveTo>
                  <a:lnTo>
                    <a:pt x="1080799" y="0"/>
                  </a:lnTo>
                  <a:cubicBezTo>
                    <a:pt x="1089066" y="0"/>
                    <a:pt x="1096995" y="3284"/>
                    <a:pt x="1102841" y="9130"/>
                  </a:cubicBezTo>
                  <a:cubicBezTo>
                    <a:pt x="1108687" y="14976"/>
                    <a:pt x="1111972" y="22905"/>
                    <a:pt x="1111972" y="31173"/>
                  </a:cubicBezTo>
                  <a:lnTo>
                    <a:pt x="1111972" y="297307"/>
                  </a:lnTo>
                  <a:cubicBezTo>
                    <a:pt x="1111972" y="305575"/>
                    <a:pt x="1108687" y="313503"/>
                    <a:pt x="1102841" y="319350"/>
                  </a:cubicBezTo>
                  <a:cubicBezTo>
                    <a:pt x="1096995" y="325196"/>
                    <a:pt x="1089066" y="328480"/>
                    <a:pt x="1080799" y="328480"/>
                  </a:cubicBezTo>
                  <a:lnTo>
                    <a:pt x="31173" y="328480"/>
                  </a:lnTo>
                  <a:cubicBezTo>
                    <a:pt x="22905" y="328480"/>
                    <a:pt x="14976" y="325196"/>
                    <a:pt x="9130" y="319350"/>
                  </a:cubicBezTo>
                  <a:cubicBezTo>
                    <a:pt x="3284" y="313503"/>
                    <a:pt x="0" y="305575"/>
                    <a:pt x="0" y="297307"/>
                  </a:cubicBezTo>
                  <a:lnTo>
                    <a:pt x="0" y="31173"/>
                  </a:lnTo>
                  <a:cubicBezTo>
                    <a:pt x="0" y="22905"/>
                    <a:pt x="3284" y="14976"/>
                    <a:pt x="9130" y="9130"/>
                  </a:cubicBezTo>
                  <a:cubicBezTo>
                    <a:pt x="14976" y="3284"/>
                    <a:pt x="22905" y="0"/>
                    <a:pt x="31173"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
            <p:cNvSpPr/>
            <p:nvPr/>
          </p:nvSpPr>
          <p:spPr>
            <a:xfrm>
              <a:off x="11300199" y="1710175"/>
              <a:ext cx="5555623" cy="1662930"/>
            </a:xfrm>
            <a:custGeom>
              <a:rect b="b" l="l" r="r" t="t"/>
              <a:pathLst>
                <a:path extrusionOk="0" h="328480" w="1097407">
                  <a:moveTo>
                    <a:pt x="31587" y="0"/>
                  </a:moveTo>
                  <a:lnTo>
                    <a:pt x="1065820" y="0"/>
                  </a:lnTo>
                  <a:cubicBezTo>
                    <a:pt x="1083265" y="0"/>
                    <a:pt x="1097407" y="14142"/>
                    <a:pt x="1097407" y="31587"/>
                  </a:cubicBezTo>
                  <a:lnTo>
                    <a:pt x="1097407" y="296893"/>
                  </a:lnTo>
                  <a:cubicBezTo>
                    <a:pt x="1097407" y="305271"/>
                    <a:pt x="1094079" y="313305"/>
                    <a:pt x="1088156" y="319228"/>
                  </a:cubicBezTo>
                  <a:cubicBezTo>
                    <a:pt x="1082232" y="325152"/>
                    <a:pt x="1074198" y="328480"/>
                    <a:pt x="1065820" y="328480"/>
                  </a:cubicBezTo>
                  <a:lnTo>
                    <a:pt x="31587" y="328480"/>
                  </a:lnTo>
                  <a:cubicBezTo>
                    <a:pt x="14142" y="328480"/>
                    <a:pt x="0" y="314338"/>
                    <a:pt x="0" y="296893"/>
                  </a:cubicBezTo>
                  <a:lnTo>
                    <a:pt x="0" y="31587"/>
                  </a:lnTo>
                  <a:cubicBezTo>
                    <a:pt x="0" y="14142"/>
                    <a:pt x="14142" y="0"/>
                    <a:pt x="31587"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p:nvPr/>
          </p:nvSpPr>
          <p:spPr>
            <a:xfrm>
              <a:off x="17042231" y="1710175"/>
              <a:ext cx="5480976" cy="1662930"/>
            </a:xfrm>
            <a:custGeom>
              <a:rect b="b" l="l" r="r" t="t"/>
              <a:pathLst>
                <a:path extrusionOk="0" h="328480" w="1082662">
                  <a:moveTo>
                    <a:pt x="32017" y="0"/>
                  </a:moveTo>
                  <a:lnTo>
                    <a:pt x="1050645" y="0"/>
                  </a:lnTo>
                  <a:cubicBezTo>
                    <a:pt x="1068328" y="0"/>
                    <a:pt x="1082662" y="14334"/>
                    <a:pt x="1082662" y="32017"/>
                  </a:cubicBezTo>
                  <a:lnTo>
                    <a:pt x="1082662" y="296463"/>
                  </a:lnTo>
                  <a:cubicBezTo>
                    <a:pt x="1082662" y="304954"/>
                    <a:pt x="1079289" y="313098"/>
                    <a:pt x="1073285" y="319102"/>
                  </a:cubicBezTo>
                  <a:cubicBezTo>
                    <a:pt x="1067280" y="325107"/>
                    <a:pt x="1059137" y="328480"/>
                    <a:pt x="1050645" y="328480"/>
                  </a:cubicBezTo>
                  <a:lnTo>
                    <a:pt x="32017" y="328480"/>
                  </a:lnTo>
                  <a:cubicBezTo>
                    <a:pt x="14334" y="328480"/>
                    <a:pt x="0" y="314145"/>
                    <a:pt x="0" y="296463"/>
                  </a:cubicBezTo>
                  <a:lnTo>
                    <a:pt x="0" y="32017"/>
                  </a:lnTo>
                  <a:cubicBezTo>
                    <a:pt x="0" y="14334"/>
                    <a:pt x="14334" y="0"/>
                    <a:pt x="32017" y="0"/>
                  </a:cubicBezTo>
                  <a:close/>
                </a:path>
              </a:pathLst>
            </a:custGeom>
            <a:solidFill>
              <a:srgbClr val="000000">
                <a:alpha val="0"/>
              </a:srgbClr>
            </a:solidFill>
            <a:ln cap="sq" cmpd="sng" w="9525">
              <a:solidFill>
                <a:srgbClr val="888888"/>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2137244" y="2084915"/>
              <a:ext cx="1004437" cy="1034532"/>
            </a:xfrm>
            <a:custGeom>
              <a:rect b="b" l="l" r="r" t="t"/>
              <a:pathLst>
                <a:path extrusionOk="0" h="1034532" w="1004437">
                  <a:moveTo>
                    <a:pt x="0" y="0"/>
                  </a:moveTo>
                  <a:lnTo>
                    <a:pt x="1004437" y="0"/>
                  </a:lnTo>
                  <a:lnTo>
                    <a:pt x="1004437" y="1034533"/>
                  </a:lnTo>
                  <a:lnTo>
                    <a:pt x="0" y="1034533"/>
                  </a:lnTo>
                  <a:lnTo>
                    <a:pt x="0" y="0"/>
                  </a:lnTo>
                  <a:close/>
                </a:path>
              </a:pathLst>
            </a:custGeom>
            <a:blipFill rotWithShape="1">
              <a:blip r:embed="rId10">
                <a:alphaModFix/>
              </a:blip>
              <a:stretch>
                <a:fillRect b="0" l="0" r="0" t="0"/>
              </a:stretch>
            </a:blipFill>
            <a:ln>
              <a:noFill/>
            </a:ln>
            <a:effectLst>
              <a:outerShdw blurRad="57150" rotWithShape="0" algn="bl" dir="5400000" dist="19050">
                <a:srgbClr val="000000">
                  <a:alpha val="50000"/>
                </a:srgbClr>
              </a:outerShdw>
            </a:effectLst>
          </p:spPr>
        </p:sp>
        <p:sp>
          <p:nvSpPr>
            <p:cNvPr id="250" name="Google Shape;250;p16"/>
            <p:cNvSpPr/>
            <p:nvPr/>
          </p:nvSpPr>
          <p:spPr>
            <a:xfrm flipH="1">
              <a:off x="5672507" y="2022470"/>
              <a:ext cx="1034532" cy="1034532"/>
            </a:xfrm>
            <a:custGeom>
              <a:rect b="b" l="l" r="r" t="t"/>
              <a:pathLst>
                <a:path extrusionOk="0" h="1034532" w="1034532">
                  <a:moveTo>
                    <a:pt x="1034532" y="0"/>
                  </a:moveTo>
                  <a:lnTo>
                    <a:pt x="0" y="0"/>
                  </a:lnTo>
                  <a:lnTo>
                    <a:pt x="0" y="1034532"/>
                  </a:lnTo>
                  <a:lnTo>
                    <a:pt x="1034532" y="1034532"/>
                  </a:lnTo>
                  <a:lnTo>
                    <a:pt x="1034532" y="0"/>
                  </a:lnTo>
                  <a:close/>
                </a:path>
              </a:pathLst>
            </a:custGeom>
            <a:blipFill rotWithShape="1">
              <a:blip r:embed="rId11">
                <a:alphaModFix/>
              </a:blip>
              <a:stretch>
                <a:fillRect b="0" l="0" r="0" t="0"/>
              </a:stretch>
            </a:blipFill>
            <a:ln>
              <a:noFill/>
            </a:ln>
            <a:effectLst>
              <a:outerShdw blurRad="57150" rotWithShape="0" algn="bl" dir="5400000" dist="19050">
                <a:srgbClr val="000000">
                  <a:alpha val="50000"/>
                </a:srgbClr>
              </a:outerShdw>
            </a:effectLst>
          </p:spPr>
        </p:sp>
        <p:sp>
          <p:nvSpPr>
            <p:cNvPr id="251" name="Google Shape;251;p16"/>
            <p:cNvSpPr/>
            <p:nvPr/>
          </p:nvSpPr>
          <p:spPr>
            <a:xfrm>
              <a:off x="11429088" y="1861709"/>
              <a:ext cx="1327239" cy="1356055"/>
            </a:xfrm>
            <a:custGeom>
              <a:rect b="b" l="l" r="r" t="t"/>
              <a:pathLst>
                <a:path extrusionOk="0" h="1356055" w="1327239">
                  <a:moveTo>
                    <a:pt x="0" y="0"/>
                  </a:moveTo>
                  <a:lnTo>
                    <a:pt x="1327238" y="0"/>
                  </a:lnTo>
                  <a:lnTo>
                    <a:pt x="1327238" y="1356054"/>
                  </a:lnTo>
                  <a:lnTo>
                    <a:pt x="0" y="1356054"/>
                  </a:lnTo>
                  <a:lnTo>
                    <a:pt x="0" y="0"/>
                  </a:lnTo>
                  <a:close/>
                </a:path>
              </a:pathLst>
            </a:custGeom>
            <a:blipFill rotWithShape="1">
              <a:blip r:embed="rId12">
                <a:alphaModFix/>
              </a:blip>
              <a:stretch>
                <a:fillRect b="0" l="0" r="0" t="0"/>
              </a:stretch>
            </a:blipFill>
            <a:ln>
              <a:noFill/>
            </a:ln>
            <a:effectLst>
              <a:outerShdw blurRad="57150" rotWithShape="0" algn="bl" dir="5400000" dist="19050">
                <a:srgbClr val="000000">
                  <a:alpha val="50000"/>
                </a:srgbClr>
              </a:outerShdw>
            </a:effectLst>
          </p:spPr>
        </p:sp>
        <p:sp>
          <p:nvSpPr>
            <p:cNvPr id="252" name="Google Shape;252;p16"/>
            <p:cNvSpPr/>
            <p:nvPr/>
          </p:nvSpPr>
          <p:spPr>
            <a:xfrm>
              <a:off x="17224122" y="2022037"/>
              <a:ext cx="1245289" cy="1097411"/>
            </a:xfrm>
            <a:custGeom>
              <a:rect b="b" l="l" r="r" t="t"/>
              <a:pathLst>
                <a:path extrusionOk="0" h="1097411" w="1245289">
                  <a:moveTo>
                    <a:pt x="0" y="0"/>
                  </a:moveTo>
                  <a:lnTo>
                    <a:pt x="1245289" y="0"/>
                  </a:lnTo>
                  <a:lnTo>
                    <a:pt x="1245289" y="1097411"/>
                  </a:lnTo>
                  <a:lnTo>
                    <a:pt x="0" y="1097411"/>
                  </a:lnTo>
                  <a:lnTo>
                    <a:pt x="0" y="0"/>
                  </a:lnTo>
                  <a:close/>
                </a:path>
              </a:pathLst>
            </a:custGeom>
            <a:blipFill rotWithShape="1">
              <a:blip r:embed="rId13">
                <a:alphaModFix/>
              </a:blip>
              <a:stretch>
                <a:fillRect b="0" l="0" r="0" t="0"/>
              </a:stretch>
            </a:blipFill>
            <a:ln>
              <a:noFill/>
            </a:ln>
            <a:effectLst>
              <a:outerShdw blurRad="57150" rotWithShape="0" algn="bl" dir="5400000" dist="19050">
                <a:srgbClr val="000000">
                  <a:alpha val="50000"/>
                </a:srgbClr>
              </a:outerShdw>
            </a:effectLst>
          </p:spPr>
        </p:sp>
        <p:sp>
          <p:nvSpPr>
            <p:cNvPr id="253" name="Google Shape;253;p16"/>
            <p:cNvSpPr txBox="1"/>
            <p:nvPr/>
          </p:nvSpPr>
          <p:spPr>
            <a:xfrm>
              <a:off x="361333" y="2359010"/>
              <a:ext cx="12351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MALE</a:t>
              </a:r>
              <a:endParaRPr>
                <a:solidFill>
                  <a:schemeClr val="dk1"/>
                </a:solidFill>
              </a:endParaRPr>
            </a:p>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52%</a:t>
              </a:r>
              <a:endParaRPr>
                <a:solidFill>
                  <a:schemeClr val="dk1"/>
                </a:solidFill>
              </a:endParaRPr>
            </a:p>
          </p:txBody>
        </p:sp>
        <p:sp>
          <p:nvSpPr>
            <p:cNvPr id="254" name="Google Shape;254;p16"/>
            <p:cNvSpPr txBox="1"/>
            <p:nvPr/>
          </p:nvSpPr>
          <p:spPr>
            <a:xfrm>
              <a:off x="3878281" y="2347555"/>
              <a:ext cx="1235100" cy="5910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FEMALE</a:t>
              </a:r>
              <a:endParaRPr>
                <a:solidFill>
                  <a:schemeClr val="dk1"/>
                </a:solidFill>
              </a:endParaRPr>
            </a:p>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48%</a:t>
              </a:r>
              <a:endParaRPr>
                <a:solidFill>
                  <a:schemeClr val="dk1"/>
                </a:solidFill>
              </a:endParaRPr>
            </a:p>
          </p:txBody>
        </p:sp>
        <p:sp>
          <p:nvSpPr>
            <p:cNvPr id="255" name="Google Shape;255;p16"/>
            <p:cNvSpPr txBox="1"/>
            <p:nvPr/>
          </p:nvSpPr>
          <p:spPr>
            <a:xfrm>
              <a:off x="7894776" y="1946091"/>
              <a:ext cx="2472900" cy="935400"/>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COUNTRY</a:t>
              </a:r>
              <a:endParaRPr>
                <a:solidFill>
                  <a:schemeClr val="dk1"/>
                </a:solidFill>
              </a:endParaRPr>
            </a:p>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South Africa 77%</a:t>
              </a:r>
              <a:endParaRPr>
                <a:solidFill>
                  <a:schemeClr val="dk1"/>
                </a:solidFill>
              </a:endParaRPr>
            </a:p>
            <a:p>
              <a:pPr indent="0" lvl="0" marL="0" marR="0" rtl="0" algn="ctr">
                <a:lnSpc>
                  <a:spcPct val="139916"/>
                </a:lnSpc>
                <a:spcBef>
                  <a:spcPts val="0"/>
                </a:spcBef>
                <a:spcAft>
                  <a:spcPts val="0"/>
                </a:spcAft>
                <a:buNone/>
              </a:pPr>
              <a:r>
                <a:rPr b="0" i="0" lang="en-US" sz="1200" u="none" cap="none" strike="noStrike">
                  <a:solidFill>
                    <a:schemeClr val="dk1"/>
                  </a:solidFill>
                  <a:latin typeface="Poppins"/>
                  <a:ea typeface="Poppins"/>
                  <a:cs typeface="Poppins"/>
                  <a:sym typeface="Poppins"/>
                </a:rPr>
                <a:t>International 23%</a:t>
              </a:r>
              <a:endParaRPr>
                <a:solidFill>
                  <a:schemeClr val="dk1"/>
                </a:solidFill>
              </a:endParaRPr>
            </a:p>
          </p:txBody>
        </p:sp>
        <p:sp>
          <p:nvSpPr>
            <p:cNvPr id="256" name="Google Shape;256;p16"/>
            <p:cNvSpPr txBox="1"/>
            <p:nvPr/>
          </p:nvSpPr>
          <p:spPr>
            <a:xfrm>
              <a:off x="13495143" y="1901088"/>
              <a:ext cx="29481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TOP CATEGORIES</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News / Sport</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Business</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Entertainment</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Lifestyle</a:t>
              </a:r>
              <a:endParaRPr>
                <a:solidFill>
                  <a:schemeClr val="dk1"/>
                </a:solidFill>
              </a:endParaRPr>
            </a:p>
          </p:txBody>
        </p:sp>
        <p:sp>
          <p:nvSpPr>
            <p:cNvPr id="257" name="Google Shape;257;p16"/>
            <p:cNvSpPr txBox="1"/>
            <p:nvPr/>
          </p:nvSpPr>
          <p:spPr>
            <a:xfrm>
              <a:off x="19391276" y="1929920"/>
              <a:ext cx="2948100" cy="985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TOP REGIONS</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Gauteng 51%</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Western Cape 26%</a:t>
              </a:r>
              <a:endParaRPr>
                <a:solidFill>
                  <a:schemeClr val="dk1"/>
                </a:solidFill>
              </a:endParaRPr>
            </a:p>
            <a:p>
              <a:pPr indent="0" lvl="0" marL="0" marR="0" rtl="0" algn="ctr">
                <a:lnSpc>
                  <a:spcPct val="100000"/>
                </a:lnSpc>
                <a:spcBef>
                  <a:spcPts val="0"/>
                </a:spcBef>
                <a:spcAft>
                  <a:spcPts val="0"/>
                </a:spcAft>
                <a:buNone/>
              </a:pPr>
              <a:r>
                <a:rPr b="0" i="0" lang="en-US" sz="1200" u="none" cap="none" strike="noStrike">
                  <a:solidFill>
                    <a:schemeClr val="dk1"/>
                  </a:solidFill>
                  <a:latin typeface="Poppins"/>
                  <a:ea typeface="Poppins"/>
                  <a:cs typeface="Poppins"/>
                  <a:sym typeface="Poppins"/>
                </a:rPr>
                <a:t>KZN 22%</a:t>
              </a:r>
              <a:endParaRPr>
                <a:solidFill>
                  <a:schemeClr val="dk1"/>
                </a:solidFill>
              </a:endParaRPr>
            </a:p>
          </p:txBody>
        </p:sp>
      </p:grpSp>
      <p:sp>
        <p:nvSpPr>
          <p:cNvPr id="258" name="Google Shape;258;p16"/>
          <p:cNvSpPr/>
          <p:nvPr/>
        </p:nvSpPr>
        <p:spPr>
          <a:xfrm>
            <a:off x="16065397" y="8086392"/>
            <a:ext cx="362272" cy="369666"/>
          </a:xfrm>
          <a:custGeom>
            <a:rect b="b" l="l" r="r" t="t"/>
            <a:pathLst>
              <a:path extrusionOk="0" h="369666" w="362272">
                <a:moveTo>
                  <a:pt x="0" y="0"/>
                </a:moveTo>
                <a:lnTo>
                  <a:pt x="362272" y="0"/>
                </a:lnTo>
                <a:lnTo>
                  <a:pt x="362272" y="369666"/>
                </a:lnTo>
                <a:lnTo>
                  <a:pt x="0" y="369666"/>
                </a:lnTo>
                <a:lnTo>
                  <a:pt x="0" y="0"/>
                </a:lnTo>
                <a:close/>
              </a:path>
            </a:pathLst>
          </a:custGeom>
          <a:blipFill rotWithShape="1">
            <a:blip r:embed="rId14">
              <a:alphaModFix/>
            </a:blip>
            <a:stretch>
              <a:fillRect b="0" l="0" r="0" t="0"/>
            </a:stretch>
          </a:blipFill>
          <a:ln>
            <a:noFill/>
          </a:ln>
          <a:effectLst>
            <a:outerShdw blurRad="57150" rotWithShape="0" algn="bl" dir="5400000" dist="19050">
              <a:srgbClr val="000000">
                <a:alpha val="50000"/>
              </a:srgbClr>
            </a:outerShdw>
          </a:effectLst>
        </p:spPr>
      </p:sp>
      <p:sp>
        <p:nvSpPr>
          <p:cNvPr id="259" name="Google Shape;259;p16"/>
          <p:cNvSpPr/>
          <p:nvPr/>
        </p:nvSpPr>
        <p:spPr>
          <a:xfrm>
            <a:off x="15985227" y="7410587"/>
            <a:ext cx="518642" cy="518642"/>
          </a:xfrm>
          <a:custGeom>
            <a:rect b="b" l="l" r="r" t="t"/>
            <a:pathLst>
              <a:path extrusionOk="0" h="518642" w="518642">
                <a:moveTo>
                  <a:pt x="0" y="0"/>
                </a:moveTo>
                <a:lnTo>
                  <a:pt x="518642" y="0"/>
                </a:lnTo>
                <a:lnTo>
                  <a:pt x="518642" y="518643"/>
                </a:lnTo>
                <a:lnTo>
                  <a:pt x="0" y="518643"/>
                </a:lnTo>
                <a:lnTo>
                  <a:pt x="0" y="0"/>
                </a:lnTo>
                <a:close/>
              </a:path>
            </a:pathLst>
          </a:custGeom>
          <a:blipFill rotWithShape="1">
            <a:blip r:embed="rId15">
              <a:alphaModFix/>
            </a:blip>
            <a:stretch>
              <a:fillRect b="0" l="0" r="0" t="0"/>
            </a:stretch>
          </a:blipFill>
          <a:ln>
            <a:noFill/>
          </a:ln>
        </p:spPr>
      </p:sp>
      <p:sp>
        <p:nvSpPr>
          <p:cNvPr id="260" name="Google Shape;260;p16"/>
          <p:cNvSpPr/>
          <p:nvPr/>
        </p:nvSpPr>
        <p:spPr>
          <a:xfrm>
            <a:off x="13738813" y="4564939"/>
            <a:ext cx="872505" cy="872505"/>
          </a:xfrm>
          <a:custGeom>
            <a:rect b="b" l="l" r="r" t="t"/>
            <a:pathLst>
              <a:path extrusionOk="0" h="872505" w="872505">
                <a:moveTo>
                  <a:pt x="0" y="0"/>
                </a:moveTo>
                <a:lnTo>
                  <a:pt x="872505" y="0"/>
                </a:lnTo>
                <a:lnTo>
                  <a:pt x="872505" y="872505"/>
                </a:lnTo>
                <a:lnTo>
                  <a:pt x="0" y="872505"/>
                </a:lnTo>
                <a:lnTo>
                  <a:pt x="0" y="0"/>
                </a:lnTo>
                <a:close/>
              </a:path>
            </a:pathLst>
          </a:custGeom>
          <a:blipFill rotWithShape="1">
            <a:blip r:embed="rId16">
              <a:alphaModFix/>
            </a:blip>
            <a:stretch>
              <a:fillRect b="0" l="0" r="0" t="0"/>
            </a:stretch>
          </a:blipFill>
          <a:ln>
            <a:noFill/>
          </a:ln>
        </p:spPr>
      </p:sp>
      <p:pic>
        <p:nvPicPr>
          <p:cNvPr id="261" name="Google Shape;261;p16" title="Add a heading (72).png"/>
          <p:cNvPicPr preferRelativeResize="0"/>
          <p:nvPr/>
        </p:nvPicPr>
        <p:blipFill rotWithShape="1">
          <a:blip r:embed="rId17">
            <a:alphaModFix/>
          </a:blip>
          <a:srcRect b="16685" l="18734" r="19561" t="18670"/>
          <a:stretch/>
        </p:blipFill>
        <p:spPr>
          <a:xfrm>
            <a:off x="5062325" y="4696428"/>
            <a:ext cx="1034450" cy="609575"/>
          </a:xfrm>
          <a:prstGeom prst="rect">
            <a:avLst/>
          </a:prstGeom>
          <a:noFill/>
          <a:ln>
            <a:noFill/>
          </a:ln>
        </p:spPr>
      </p:pic>
      <p:cxnSp>
        <p:nvCxnSpPr>
          <p:cNvPr id="262" name="Google Shape;262;p16"/>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263" name="Google Shape;263;p16"/>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18">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264" name="Google Shape;264;p16"/>
          <p:cNvPicPr preferRelativeResize="0"/>
          <p:nvPr/>
        </p:nvPicPr>
        <p:blipFill rotWithShape="1">
          <a:blip r:embed="rId19">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8" name="Shape 268"/>
        <p:cNvGrpSpPr/>
        <p:nvPr/>
      </p:nvGrpSpPr>
      <p:grpSpPr>
        <a:xfrm>
          <a:off x="0" y="0"/>
          <a:ext cx="0" cy="0"/>
          <a:chOff x="0" y="0"/>
          <a:chExt cx="0" cy="0"/>
        </a:xfrm>
      </p:grpSpPr>
      <p:sp>
        <p:nvSpPr>
          <p:cNvPr id="269" name="Google Shape;269;p17"/>
          <p:cNvSpPr txBox="1"/>
          <p:nvPr/>
        </p:nvSpPr>
        <p:spPr>
          <a:xfrm>
            <a:off x="17545050" y="9496425"/>
            <a:ext cx="152400" cy="2154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t/>
            </a:r>
            <a:endParaRPr/>
          </a:p>
        </p:txBody>
      </p:sp>
      <p:sp>
        <p:nvSpPr>
          <p:cNvPr id="270" name="Google Shape;270;p17"/>
          <p:cNvSpPr txBox="1"/>
          <p:nvPr/>
        </p:nvSpPr>
        <p:spPr>
          <a:xfrm>
            <a:off x="840575" y="2505175"/>
            <a:ext cx="15068400" cy="3863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b="1" lang="en-US" sz="2000">
                <a:solidFill>
                  <a:srgbClr val="002C5C"/>
                </a:solidFill>
                <a:latin typeface="Poppins"/>
                <a:ea typeface="Poppins"/>
                <a:cs typeface="Poppins"/>
                <a:sym typeface="Poppins"/>
              </a:rPr>
              <a:t>Campaign Period: {{Slide 4 Campaign Period}}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t/>
            </a:r>
            <a:endParaRPr b="1"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rPr b="1" lang="en-US" sz="2000">
                <a:solidFill>
                  <a:srgbClr val="002C5C"/>
                </a:solidFill>
                <a:latin typeface="Poppins"/>
                <a:ea typeface="Poppins"/>
                <a:cs typeface="Poppins"/>
                <a:sym typeface="Poppins"/>
              </a:rPr>
              <a:t>Campaign Objective:  </a:t>
            </a:r>
            <a:endParaRPr b="1"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rPr lang="en-US" sz="2000">
                <a:solidFill>
                  <a:srgbClr val="002C5C"/>
                </a:solidFill>
                <a:latin typeface="Poppins"/>
                <a:ea typeface="Poppins"/>
                <a:cs typeface="Poppins"/>
                <a:sym typeface="Poppins"/>
              </a:rPr>
              <a:t>{{Slide 4 Campaign Objective}}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t/>
            </a:r>
            <a:endParaRPr b="1"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t/>
            </a:r>
            <a:endParaRPr b="1"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None/>
            </a:pPr>
            <a:r>
              <a:t/>
            </a:r>
            <a:endParaRPr sz="2000">
              <a:solidFill>
                <a:srgbClr val="002C5C"/>
              </a:solidFill>
              <a:latin typeface="Poppins"/>
              <a:ea typeface="Poppins"/>
              <a:cs typeface="Poppins"/>
              <a:sym typeface="Poppins"/>
            </a:endParaRPr>
          </a:p>
          <a:p>
            <a:pPr indent="0" lvl="0" marL="457200" rtl="0" algn="l">
              <a:lnSpc>
                <a:spcPct val="115000"/>
              </a:lnSpc>
              <a:spcBef>
                <a:spcPts val="1200"/>
              </a:spcBef>
              <a:spcAft>
                <a:spcPts val="1200"/>
              </a:spcAft>
              <a:buNone/>
            </a:pPr>
            <a:r>
              <a:t/>
            </a:r>
            <a:endParaRPr b="1" sz="2000">
              <a:solidFill>
                <a:srgbClr val="002C5C"/>
              </a:solidFill>
              <a:latin typeface="Poppins"/>
              <a:ea typeface="Poppins"/>
              <a:cs typeface="Poppins"/>
              <a:sym typeface="Poppins"/>
            </a:endParaRPr>
          </a:p>
        </p:txBody>
      </p:sp>
      <p:sp>
        <p:nvSpPr>
          <p:cNvPr id="271" name="Google Shape;271;p17"/>
          <p:cNvSpPr txBox="1"/>
          <p:nvPr/>
        </p:nvSpPr>
        <p:spPr>
          <a:xfrm>
            <a:off x="840567" y="680238"/>
            <a:ext cx="140946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lang="en-US" sz="9999">
                <a:solidFill>
                  <a:srgbClr val="002C5C"/>
                </a:solidFill>
                <a:latin typeface="Anton"/>
                <a:ea typeface="Anton"/>
                <a:cs typeface="Anton"/>
                <a:sym typeface="Anton"/>
              </a:rPr>
              <a:t>CAMPAIGN</a:t>
            </a:r>
            <a:r>
              <a:rPr i="0" lang="en-US" sz="9999" u="none" cap="none" strike="noStrike">
                <a:solidFill>
                  <a:srgbClr val="FCFCFC"/>
                </a:solidFill>
                <a:latin typeface="Anton"/>
                <a:ea typeface="Anton"/>
                <a:cs typeface="Anton"/>
                <a:sym typeface="Anton"/>
              </a:rPr>
              <a:t> </a:t>
            </a:r>
            <a:r>
              <a:rPr lang="en-US" sz="9999">
                <a:solidFill>
                  <a:srgbClr val="888888"/>
                </a:solidFill>
                <a:latin typeface="Anton"/>
                <a:ea typeface="Anton"/>
                <a:cs typeface="Anton"/>
                <a:sym typeface="Anton"/>
              </a:rPr>
              <a:t>OUTLINE</a:t>
            </a:r>
            <a:r>
              <a:rPr i="0" lang="en-US" sz="9999" u="none" cap="none" strike="noStrike">
                <a:solidFill>
                  <a:srgbClr val="888888"/>
                </a:solidFill>
                <a:latin typeface="Anton"/>
                <a:ea typeface="Anton"/>
                <a:cs typeface="Anton"/>
                <a:sym typeface="Anton"/>
              </a:rPr>
              <a:t> </a:t>
            </a:r>
            <a:endParaRPr>
              <a:solidFill>
                <a:schemeClr val="lt1"/>
              </a:solidFill>
              <a:latin typeface="Anton"/>
              <a:ea typeface="Anton"/>
              <a:cs typeface="Anton"/>
              <a:sym typeface="Anton"/>
            </a:endParaRPr>
          </a:p>
        </p:txBody>
      </p:sp>
      <p:cxnSp>
        <p:nvCxnSpPr>
          <p:cNvPr id="272" name="Google Shape;272;p17"/>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273" name="Google Shape;273;p17"/>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274" name="Google Shape;274;p17"/>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18"/>
          <p:cNvSpPr txBox="1"/>
          <p:nvPr/>
        </p:nvSpPr>
        <p:spPr>
          <a:xfrm>
            <a:off x="1297475" y="680250"/>
            <a:ext cx="136377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lang="en-US" sz="9999">
                <a:solidFill>
                  <a:srgbClr val="002C5C"/>
                </a:solidFill>
                <a:latin typeface="Anton"/>
                <a:ea typeface="Anton"/>
                <a:cs typeface="Anton"/>
                <a:sym typeface="Anton"/>
              </a:rPr>
              <a:t>TARGETING</a:t>
            </a:r>
            <a:r>
              <a:rPr i="0" lang="en-US" sz="9999" u="none" cap="none" strike="noStrike">
                <a:solidFill>
                  <a:srgbClr val="FCFCFC"/>
                </a:solidFill>
                <a:latin typeface="Anton"/>
                <a:ea typeface="Anton"/>
                <a:cs typeface="Anton"/>
                <a:sym typeface="Anton"/>
              </a:rPr>
              <a:t> </a:t>
            </a:r>
            <a:r>
              <a:rPr lang="en-US" sz="9999">
                <a:solidFill>
                  <a:srgbClr val="888888"/>
                </a:solidFill>
                <a:latin typeface="Anton"/>
                <a:ea typeface="Anton"/>
                <a:cs typeface="Anton"/>
                <a:sym typeface="Anton"/>
              </a:rPr>
              <a:t>OVERVIEW</a:t>
            </a:r>
            <a:r>
              <a:rPr i="0" lang="en-US" sz="9999" u="none" cap="none" strike="noStrike">
                <a:solidFill>
                  <a:srgbClr val="888888"/>
                </a:solidFill>
                <a:latin typeface="Anton"/>
                <a:ea typeface="Anton"/>
                <a:cs typeface="Anton"/>
                <a:sym typeface="Anton"/>
              </a:rPr>
              <a:t> </a:t>
            </a:r>
            <a:endParaRPr>
              <a:solidFill>
                <a:schemeClr val="lt1"/>
              </a:solidFill>
              <a:latin typeface="Anton"/>
              <a:ea typeface="Anton"/>
              <a:cs typeface="Anton"/>
              <a:sym typeface="Anton"/>
            </a:endParaRPr>
          </a:p>
        </p:txBody>
      </p:sp>
      <p:graphicFrame>
        <p:nvGraphicFramePr>
          <p:cNvPr id="280" name="Google Shape;280;p18"/>
          <p:cNvGraphicFramePr/>
          <p:nvPr/>
        </p:nvGraphicFramePr>
        <p:xfrm>
          <a:off x="1297475" y="2444513"/>
          <a:ext cx="3000000" cy="3000000"/>
        </p:xfrm>
        <a:graphic>
          <a:graphicData uri="http://schemas.openxmlformats.org/drawingml/2006/table">
            <a:tbl>
              <a:tblPr>
                <a:noFill/>
                <a:tableStyleId>{97BBCC3D-812B-48C3-B6C7-5B41C7B5152E}</a:tableStyleId>
              </a:tblPr>
              <a:tblGrid>
                <a:gridCol w="3824950"/>
                <a:gridCol w="11868250"/>
              </a:tblGrid>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Age</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chemeClr val="dk2"/>
                          </a:solidFill>
                          <a:latin typeface="Poppins"/>
                          <a:ea typeface="Poppins"/>
                          <a:cs typeface="Poppins"/>
                          <a:sym typeface="Poppins"/>
                        </a:rPr>
                        <a:t>{{Slide 5 Target Age Group}}                                                    </a:t>
                      </a:r>
                      <a:endParaRPr sz="2000">
                        <a:solidFill>
                          <a:schemeClr val="dk2"/>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Gender</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chemeClr val="dk2"/>
                          </a:solidFill>
                          <a:latin typeface="Poppins"/>
                          <a:ea typeface="Poppins"/>
                          <a:cs typeface="Poppins"/>
                          <a:sym typeface="Poppins"/>
                        </a:rPr>
                        <a:t>{{Slide 5 Target Gender}}                                                       </a:t>
                      </a:r>
                      <a:endParaRPr sz="2000">
                        <a:solidFill>
                          <a:schemeClr val="dk2"/>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Interests</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spcBef>
                          <a:spcPts val="0"/>
                        </a:spcBef>
                        <a:spcAft>
                          <a:spcPts val="0"/>
                        </a:spcAft>
                        <a:buNone/>
                      </a:pPr>
                      <a:r>
                        <a:rPr lang="en-US" sz="2000">
                          <a:solidFill>
                            <a:schemeClr val="dk2"/>
                          </a:solidFill>
                          <a:latin typeface="Poppins"/>
                          <a:ea typeface="Poppins"/>
                          <a:cs typeface="Poppins"/>
                          <a:sym typeface="Poppins"/>
                        </a:rPr>
                        <a:t>{{Slide 5 Interests}}                                                           </a:t>
                      </a:r>
                      <a:endParaRPr sz="2000">
                        <a:solidFill>
                          <a:schemeClr val="dk2"/>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Income Level / LSM </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2"/>
                          </a:solidFill>
                          <a:latin typeface="Poppins"/>
                          <a:ea typeface="Poppins"/>
                          <a:cs typeface="Poppins"/>
                          <a:sym typeface="Poppins"/>
                        </a:rPr>
                        <a:t>{{Slide 5 Income Level}}                                                        </a:t>
                      </a:r>
                      <a:endParaRPr>
                        <a:solidFill>
                          <a:schemeClr val="dk2"/>
                        </a:solidFill>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Geographics</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2"/>
                          </a:solidFill>
                          <a:latin typeface="Poppins"/>
                          <a:ea typeface="Poppins"/>
                          <a:cs typeface="Poppins"/>
                          <a:sym typeface="Poppins"/>
                        </a:rPr>
                        <a:t>{{Slide 5 Target Regions}}                                                      </a:t>
                      </a:r>
                      <a:endParaRPr>
                        <a:solidFill>
                          <a:schemeClr val="dk2"/>
                        </a:solidFill>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r h="721750">
                <a:tc>
                  <a:txBody>
                    <a:bodyPr/>
                    <a:lstStyle/>
                    <a:p>
                      <a:pPr indent="0" lvl="0" marL="0" rtl="0" algn="l">
                        <a:lnSpc>
                          <a:spcPct val="115000"/>
                        </a:lnSpc>
                        <a:spcBef>
                          <a:spcPts val="0"/>
                        </a:spcBef>
                        <a:spcAft>
                          <a:spcPts val="0"/>
                        </a:spcAft>
                        <a:buNone/>
                      </a:pPr>
                      <a:r>
                        <a:rPr b="1" lang="en-US" sz="2000">
                          <a:solidFill>
                            <a:srgbClr val="002C5C"/>
                          </a:solidFill>
                          <a:latin typeface="Poppins"/>
                          <a:ea typeface="Poppins"/>
                          <a:cs typeface="Poppins"/>
                          <a:sym typeface="Poppins"/>
                        </a:rPr>
                        <a:t>Pain Points</a:t>
                      </a:r>
                      <a:endParaRPr b="1" sz="2000">
                        <a:solidFill>
                          <a:srgbClr val="002C5C"/>
                        </a:solidFill>
                        <a:latin typeface="Poppins"/>
                        <a:ea typeface="Poppins"/>
                        <a:cs typeface="Poppins"/>
                        <a:sym typeface="Poppins"/>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2"/>
                          </a:solidFill>
                          <a:latin typeface="Poppins"/>
                          <a:ea typeface="Poppins"/>
                          <a:cs typeface="Poppins"/>
                          <a:sym typeface="Poppins"/>
                        </a:rPr>
                        <a:t>{{Slide 5 Pain Points}}                                                         </a:t>
                      </a:r>
                      <a:endParaRPr>
                        <a:solidFill>
                          <a:schemeClr val="dk2"/>
                        </a:solidFill>
                      </a:endParaRPr>
                    </a:p>
                  </a:txBody>
                  <a:tcPr marT="19050" marB="19050" marR="28575" marL="28575" anchor="ctr">
                    <a:lnL cap="flat" cmpd="sng" w="9525">
                      <a:solidFill>
                        <a:srgbClr val="002C5C"/>
                      </a:solidFill>
                      <a:prstDash val="solid"/>
                      <a:round/>
                      <a:headEnd len="sm" w="sm" type="none"/>
                      <a:tailEnd len="sm" w="sm" type="none"/>
                    </a:lnL>
                    <a:lnR cap="flat" cmpd="sng" w="9525">
                      <a:solidFill>
                        <a:srgbClr val="002C5C"/>
                      </a:solidFill>
                      <a:prstDash val="solid"/>
                      <a:round/>
                      <a:headEnd len="sm" w="sm" type="none"/>
                      <a:tailEnd len="sm" w="sm" type="none"/>
                    </a:lnR>
                    <a:lnT cap="flat" cmpd="sng" w="9525">
                      <a:solidFill>
                        <a:srgbClr val="002C5C"/>
                      </a:solidFill>
                      <a:prstDash val="solid"/>
                      <a:round/>
                      <a:headEnd len="sm" w="sm" type="none"/>
                      <a:tailEnd len="sm" w="sm" type="none"/>
                    </a:lnT>
                    <a:lnB cap="flat" cmpd="sng" w="9525">
                      <a:solidFill>
                        <a:srgbClr val="002C5C"/>
                      </a:solidFill>
                      <a:prstDash val="solid"/>
                      <a:round/>
                      <a:headEnd len="sm" w="sm" type="none"/>
                      <a:tailEnd len="sm" w="sm" type="none"/>
                    </a:lnB>
                  </a:tcPr>
                </a:tc>
              </a:tr>
            </a:tbl>
          </a:graphicData>
        </a:graphic>
      </p:graphicFrame>
      <p:sp>
        <p:nvSpPr>
          <p:cNvPr id="281" name="Google Shape;281;p18"/>
          <p:cNvSpPr txBox="1"/>
          <p:nvPr/>
        </p:nvSpPr>
        <p:spPr>
          <a:xfrm>
            <a:off x="17545050" y="9496425"/>
            <a:ext cx="152400" cy="2154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t/>
            </a:r>
            <a:endParaRPr/>
          </a:p>
        </p:txBody>
      </p:sp>
      <p:cxnSp>
        <p:nvCxnSpPr>
          <p:cNvPr id="282" name="Google Shape;282;p18"/>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283" name="Google Shape;283;p18"/>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284" name="Google Shape;284;p18"/>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8" name="Shape 288"/>
        <p:cNvGrpSpPr/>
        <p:nvPr/>
      </p:nvGrpSpPr>
      <p:grpSpPr>
        <a:xfrm>
          <a:off x="0" y="0"/>
          <a:ext cx="0" cy="0"/>
          <a:chOff x="0" y="0"/>
          <a:chExt cx="0" cy="0"/>
        </a:xfrm>
      </p:grpSpPr>
      <p:cxnSp>
        <p:nvCxnSpPr>
          <p:cNvPr id="289" name="Google Shape;289;p19"/>
          <p:cNvCxnSpPr/>
          <p:nvPr/>
        </p:nvCxnSpPr>
        <p:spPr>
          <a:xfrm>
            <a:off x="748621" y="4115168"/>
            <a:ext cx="9995100" cy="0"/>
          </a:xfrm>
          <a:prstGeom prst="straightConnector1">
            <a:avLst/>
          </a:prstGeom>
          <a:noFill/>
          <a:ln cap="rnd" cmpd="sng" w="9525">
            <a:solidFill>
              <a:srgbClr val="002C5C"/>
            </a:solidFill>
            <a:prstDash val="solid"/>
            <a:round/>
            <a:headEnd len="sm" w="sm" type="none"/>
            <a:tailEnd len="sm" w="sm" type="none"/>
          </a:ln>
        </p:spPr>
      </p:cxnSp>
      <p:sp>
        <p:nvSpPr>
          <p:cNvPr id="290" name="Google Shape;290;p19"/>
          <p:cNvSpPr txBox="1"/>
          <p:nvPr/>
        </p:nvSpPr>
        <p:spPr>
          <a:xfrm>
            <a:off x="840577" y="931600"/>
            <a:ext cx="104406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i="0" lang="en-US" sz="9999" u="none" cap="none" strike="noStrike">
                <a:solidFill>
                  <a:srgbClr val="002C5C"/>
                </a:solidFill>
                <a:latin typeface="Anton"/>
                <a:ea typeface="Anton"/>
                <a:cs typeface="Anton"/>
                <a:sym typeface="Anton"/>
              </a:rPr>
              <a:t>DISPLAY</a:t>
            </a:r>
            <a:r>
              <a:rPr i="0" lang="en-US" sz="9999" u="none" cap="none" strike="noStrike">
                <a:solidFill>
                  <a:schemeClr val="lt1"/>
                </a:solidFill>
                <a:latin typeface="Anton"/>
                <a:ea typeface="Anton"/>
                <a:cs typeface="Anton"/>
                <a:sym typeface="Anton"/>
              </a:rPr>
              <a:t> </a:t>
            </a:r>
            <a:r>
              <a:rPr i="0" lang="en-US" sz="9999" u="none" cap="none" strike="noStrike">
                <a:solidFill>
                  <a:srgbClr val="888888"/>
                </a:solidFill>
                <a:latin typeface="Anton"/>
                <a:ea typeface="Anton"/>
                <a:cs typeface="Anton"/>
                <a:sym typeface="Anton"/>
              </a:rPr>
              <a:t>ADVERTISING</a:t>
            </a:r>
            <a:endParaRPr>
              <a:solidFill>
                <a:srgbClr val="888888"/>
              </a:solidFill>
              <a:latin typeface="Anton"/>
              <a:ea typeface="Anton"/>
              <a:cs typeface="Anton"/>
              <a:sym typeface="Anton"/>
            </a:endParaRPr>
          </a:p>
        </p:txBody>
      </p:sp>
      <p:sp>
        <p:nvSpPr>
          <p:cNvPr id="291" name="Google Shape;291;p19"/>
          <p:cNvSpPr txBox="1"/>
          <p:nvPr/>
        </p:nvSpPr>
        <p:spPr>
          <a:xfrm>
            <a:off x="790575" y="2578474"/>
            <a:ext cx="10632000" cy="1369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u="none" cap="none" strike="noStrike">
                <a:solidFill>
                  <a:srgbClr val="002C5C"/>
                </a:solidFill>
                <a:latin typeface="Poppins"/>
                <a:ea typeface="Poppins"/>
                <a:cs typeface="Poppins"/>
                <a:sym typeface="Poppins"/>
              </a:rPr>
              <a:t>Display ads put your brand front and center with high-impact visuals that grab attention. Designed for reach and visibility, they drive traffic, build awareness, and deliver measurable results. Flexible formats and precise targeting ensure your message is seen, remembered, and acted on.</a:t>
            </a:r>
            <a:endParaRPr b="0" i="0" sz="2000" u="none" cap="none" strike="noStrike">
              <a:solidFill>
                <a:srgbClr val="002C5C"/>
              </a:solidFill>
              <a:latin typeface="Poppins"/>
              <a:ea typeface="Poppins"/>
              <a:cs typeface="Poppins"/>
              <a:sym typeface="Poppins"/>
            </a:endParaRPr>
          </a:p>
        </p:txBody>
      </p:sp>
      <p:sp>
        <p:nvSpPr>
          <p:cNvPr id="292" name="Google Shape;292;p19"/>
          <p:cNvSpPr txBox="1"/>
          <p:nvPr/>
        </p:nvSpPr>
        <p:spPr>
          <a:xfrm>
            <a:off x="14420602" y="2032025"/>
            <a:ext cx="3325500" cy="246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2000">
                <a:solidFill>
                  <a:srgbClr val="002C5C"/>
                </a:solidFill>
                <a:latin typeface="Poppins"/>
                <a:ea typeface="Poppins"/>
                <a:cs typeface="Poppins"/>
                <a:sym typeface="Poppins"/>
              </a:rPr>
              <a:t>Best for: </a:t>
            </a:r>
            <a:r>
              <a:rPr i="0" lang="en-US" sz="2000" u="none" cap="none" strike="noStrike">
                <a:solidFill>
                  <a:srgbClr val="002C5C"/>
                </a:solidFill>
                <a:latin typeface="Poppins"/>
                <a:ea typeface="Poppins"/>
                <a:cs typeface="Poppins"/>
                <a:sym typeface="Poppins"/>
              </a:rPr>
              <a:t>Boost brand visibility / recognition / Awareness</a:t>
            </a:r>
            <a:endParaRPr i="0" sz="2000" u="none" cap="none" strike="noStrike">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rPr lang="en-US" sz="2000">
                <a:solidFill>
                  <a:srgbClr val="002C5C"/>
                </a:solidFill>
                <a:latin typeface="Poppins"/>
                <a:ea typeface="Poppins"/>
                <a:cs typeface="Poppins"/>
                <a:sym typeface="Poppins"/>
              </a:rPr>
              <a:t>Drives measurable results</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rPr lang="en-US" sz="2000">
                <a:solidFill>
                  <a:srgbClr val="002C5C"/>
                </a:solidFill>
                <a:latin typeface="Poppins"/>
                <a:ea typeface="Poppins"/>
                <a:cs typeface="Poppins"/>
                <a:sym typeface="Poppins"/>
              </a:rPr>
              <a:t>Supports </a:t>
            </a:r>
            <a:r>
              <a:rPr lang="en-US" sz="2000">
                <a:solidFill>
                  <a:srgbClr val="002C5C"/>
                </a:solidFill>
                <a:latin typeface="Poppins"/>
                <a:ea typeface="Poppins"/>
                <a:cs typeface="Poppins"/>
                <a:sym typeface="Poppins"/>
              </a:rPr>
              <a:t>in depth</a:t>
            </a:r>
            <a:r>
              <a:rPr lang="en-US" sz="2000">
                <a:solidFill>
                  <a:srgbClr val="002C5C"/>
                </a:solidFill>
                <a:latin typeface="Poppins"/>
                <a:ea typeface="Poppins"/>
                <a:cs typeface="Poppins"/>
                <a:sym typeface="Poppins"/>
              </a:rPr>
              <a:t> targeting</a:t>
            </a:r>
            <a:endParaRPr sz="2000">
              <a:solidFill>
                <a:srgbClr val="002C5C"/>
              </a:solidFill>
              <a:latin typeface="Poppins"/>
              <a:ea typeface="Poppins"/>
              <a:cs typeface="Poppins"/>
              <a:sym typeface="Poppins"/>
            </a:endParaRPr>
          </a:p>
        </p:txBody>
      </p:sp>
      <p:sp>
        <p:nvSpPr>
          <p:cNvPr id="293" name="Google Shape;293;p19"/>
          <p:cNvSpPr txBox="1"/>
          <p:nvPr/>
        </p:nvSpPr>
        <p:spPr>
          <a:xfrm>
            <a:off x="832538" y="4474662"/>
            <a:ext cx="10632000" cy="3555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Placement: {{Slide 6 Display Site Placement}}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Format: {{Slide 6 Targeting Format}}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Goal: </a:t>
            </a:r>
            <a:r>
              <a:rPr lang="en-US" sz="2000">
                <a:solidFill>
                  <a:srgbClr val="002C5C"/>
                </a:solidFill>
                <a:latin typeface="Poppins"/>
                <a:ea typeface="Poppins"/>
                <a:cs typeface="Poppins"/>
                <a:sym typeface="Poppins"/>
              </a:rPr>
              <a:t>To drive high-visibility brand awareness and consideration by reinforcing key campaign messaging, while directing audiences to engage with featured content and learn more.</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Marketing Funnel Objective: </a:t>
            </a:r>
            <a:r>
              <a:rPr lang="en-US" sz="2000">
                <a:solidFill>
                  <a:srgbClr val="002C5C"/>
                </a:solidFill>
                <a:latin typeface="Poppins"/>
                <a:ea typeface="Poppins"/>
                <a:cs typeface="Poppins"/>
                <a:sym typeface="Poppins"/>
              </a:rPr>
              <a:t>Awareness</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Metrics: </a:t>
            </a:r>
            <a:r>
              <a:rPr lang="en-US" sz="2000">
                <a:solidFill>
                  <a:srgbClr val="002C5C"/>
                </a:solidFill>
                <a:latin typeface="Poppins"/>
                <a:ea typeface="Poppins"/>
                <a:cs typeface="Poppins"/>
                <a:sym typeface="Poppins"/>
              </a:rPr>
              <a:t>Reach, Impressions</a:t>
            </a:r>
            <a:endParaRPr sz="2000">
              <a:solidFill>
                <a:srgbClr val="002C5C"/>
              </a:solidFill>
              <a:latin typeface="Poppins"/>
              <a:ea typeface="Poppins"/>
              <a:cs typeface="Poppins"/>
              <a:sym typeface="Poppins"/>
            </a:endParaRPr>
          </a:p>
          <a:p>
            <a:pPr indent="0" lvl="0" marL="0" marR="0" rtl="0" algn="l">
              <a:lnSpc>
                <a:spcPct val="115000"/>
              </a:lnSpc>
              <a:spcBef>
                <a:spcPts val="1200"/>
              </a:spcBef>
              <a:spcAft>
                <a:spcPts val="0"/>
              </a:spcAft>
              <a:buNone/>
            </a:pPr>
            <a:r>
              <a:t/>
            </a:r>
            <a:endParaRPr b="1" sz="2000">
              <a:solidFill>
                <a:srgbClr val="002C5C"/>
              </a:solidFill>
              <a:latin typeface="Poppins"/>
              <a:ea typeface="Poppins"/>
              <a:cs typeface="Poppins"/>
              <a:sym typeface="Poppins"/>
            </a:endParaRPr>
          </a:p>
        </p:txBody>
      </p:sp>
      <p:cxnSp>
        <p:nvCxnSpPr>
          <p:cNvPr id="294" name="Google Shape;294;p19"/>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295" name="Google Shape;295;p19"/>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296" name="Google Shape;296;p19"/>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cxnSp>
        <p:nvCxnSpPr>
          <p:cNvPr id="297" name="Google Shape;297;p19"/>
          <p:cNvCxnSpPr/>
          <p:nvPr/>
        </p:nvCxnSpPr>
        <p:spPr>
          <a:xfrm>
            <a:off x="13780250" y="2719825"/>
            <a:ext cx="0" cy="1407600"/>
          </a:xfrm>
          <a:prstGeom prst="straightConnector1">
            <a:avLst/>
          </a:prstGeom>
          <a:noFill/>
          <a:ln cap="flat" cmpd="sng" w="47400">
            <a:solidFill>
              <a:srgbClr val="002C5C"/>
            </a:solidFill>
            <a:prstDash val="solid"/>
            <a:round/>
            <a:headEnd len="sm" w="sm" type="none"/>
            <a:tailEnd len="sm" w="sm" type="none"/>
          </a:ln>
        </p:spPr>
      </p:cxnSp>
      <p:sp>
        <p:nvSpPr>
          <p:cNvPr id="298" name="Google Shape;298;p19"/>
          <p:cNvSpPr/>
          <p:nvPr/>
        </p:nvSpPr>
        <p:spPr>
          <a:xfrm>
            <a:off x="13651400" y="2537625"/>
            <a:ext cx="256032" cy="21539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85325" lIns="85325" spcFirstLastPara="1" rIns="85325" wrap="square" tIns="85325">
            <a:noAutofit/>
          </a:bodyPr>
          <a:lstStyle/>
          <a:p>
            <a:pPr indent="0" lvl="0" marL="0" rtl="0" algn="l">
              <a:spcBef>
                <a:spcPts val="0"/>
              </a:spcBef>
              <a:spcAft>
                <a:spcPts val="0"/>
              </a:spcAft>
              <a:buNone/>
            </a:pPr>
            <a:r>
              <a:t/>
            </a:r>
            <a:endParaRPr/>
          </a:p>
        </p:txBody>
      </p:sp>
      <p:pic>
        <p:nvPicPr>
          <p:cNvPr id="299" name="Google Shape;299;p19"/>
          <p:cNvPicPr preferRelativeResize="0"/>
          <p:nvPr/>
        </p:nvPicPr>
        <p:blipFill>
          <a:blip r:embed="rId5">
            <a:alphaModFix/>
          </a:blip>
          <a:stretch>
            <a:fillRect/>
          </a:stretch>
        </p:blipFill>
        <p:spPr>
          <a:xfrm>
            <a:off x="14125371" y="5173988"/>
            <a:ext cx="3915966" cy="3670690"/>
          </a:xfrm>
          <a:prstGeom prst="rect">
            <a:avLst/>
          </a:prstGeom>
          <a:noFill/>
          <a:ln>
            <a:noFill/>
          </a:ln>
        </p:spPr>
      </p:pic>
      <p:sp>
        <p:nvSpPr>
          <p:cNvPr id="300" name="Google Shape;300;p19"/>
          <p:cNvSpPr/>
          <p:nvPr/>
        </p:nvSpPr>
        <p:spPr>
          <a:xfrm>
            <a:off x="13651400" y="3321300"/>
            <a:ext cx="256032" cy="21539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85325" lIns="85325" spcFirstLastPara="1" rIns="85325" wrap="square" tIns="85325">
            <a:noAutofit/>
          </a:bodyPr>
          <a:lstStyle/>
          <a:p>
            <a:pPr indent="0" lvl="0" marL="0" rtl="0" algn="l">
              <a:spcBef>
                <a:spcPts val="0"/>
              </a:spcBef>
              <a:spcAft>
                <a:spcPts val="0"/>
              </a:spcAft>
              <a:buNone/>
            </a:pPr>
            <a:r>
              <a:t/>
            </a:r>
            <a:endParaRPr/>
          </a:p>
        </p:txBody>
      </p:sp>
      <p:sp>
        <p:nvSpPr>
          <p:cNvPr id="301" name="Google Shape;301;p19"/>
          <p:cNvSpPr/>
          <p:nvPr/>
        </p:nvSpPr>
        <p:spPr>
          <a:xfrm>
            <a:off x="13652238" y="3948275"/>
            <a:ext cx="256032" cy="21539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85325" lIns="85325" spcFirstLastPara="1" rIns="85325" wrap="square" tIns="85325">
            <a:noAutofit/>
          </a:bodyPr>
          <a:lstStyle/>
          <a:p>
            <a:pPr indent="0" lvl="0" marL="0" rtl="0" algn="l">
              <a:spcBef>
                <a:spcPts val="0"/>
              </a:spcBef>
              <a:spcAft>
                <a:spcPts val="0"/>
              </a:spcAft>
              <a:buNone/>
            </a:pPr>
            <a:r>
              <a:t/>
            </a:r>
            <a:endParaRPr/>
          </a:p>
        </p:txBody>
      </p:sp>
      <p:pic>
        <p:nvPicPr>
          <p:cNvPr id="302" name="Google Shape;302;p19"/>
          <p:cNvPicPr preferRelativeResize="0"/>
          <p:nvPr/>
        </p:nvPicPr>
        <p:blipFill>
          <a:blip r:embed="rId6">
            <a:alphaModFix/>
          </a:blip>
          <a:stretch>
            <a:fillRect/>
          </a:stretch>
        </p:blipFill>
        <p:spPr>
          <a:xfrm>
            <a:off x="13284619" y="6944646"/>
            <a:ext cx="1135975" cy="2050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20"/>
          <p:cNvSpPr txBox="1"/>
          <p:nvPr/>
        </p:nvSpPr>
        <p:spPr>
          <a:xfrm>
            <a:off x="840573" y="931600"/>
            <a:ext cx="121767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i="0" lang="en-US" sz="9999" u="none" cap="none" strike="noStrike">
                <a:solidFill>
                  <a:srgbClr val="002C5C"/>
                </a:solidFill>
                <a:latin typeface="Anton"/>
                <a:ea typeface="Anton"/>
                <a:cs typeface="Anton"/>
                <a:sym typeface="Anton"/>
              </a:rPr>
              <a:t>CONTENT</a:t>
            </a:r>
            <a:r>
              <a:rPr i="0" lang="en-US" sz="9999" u="none" cap="none" strike="noStrike">
                <a:solidFill>
                  <a:schemeClr val="lt1"/>
                </a:solidFill>
                <a:latin typeface="Anton"/>
                <a:ea typeface="Anton"/>
                <a:cs typeface="Anton"/>
                <a:sym typeface="Anton"/>
              </a:rPr>
              <a:t> </a:t>
            </a:r>
            <a:r>
              <a:rPr i="0" lang="en-US" sz="9999" u="none" cap="none" strike="noStrike">
                <a:solidFill>
                  <a:srgbClr val="888888"/>
                </a:solidFill>
                <a:latin typeface="Anton"/>
                <a:ea typeface="Anton"/>
                <a:cs typeface="Anton"/>
                <a:sym typeface="Anton"/>
              </a:rPr>
              <a:t>MARKETING</a:t>
            </a:r>
            <a:endParaRPr>
              <a:solidFill>
                <a:srgbClr val="888888"/>
              </a:solidFill>
              <a:latin typeface="Anton"/>
              <a:ea typeface="Anton"/>
              <a:cs typeface="Anton"/>
              <a:sym typeface="Anton"/>
            </a:endParaRPr>
          </a:p>
        </p:txBody>
      </p:sp>
      <p:sp>
        <p:nvSpPr>
          <p:cNvPr id="308" name="Google Shape;308;p20"/>
          <p:cNvSpPr txBox="1"/>
          <p:nvPr/>
        </p:nvSpPr>
        <p:spPr>
          <a:xfrm>
            <a:off x="840575" y="2380825"/>
            <a:ext cx="11007900" cy="1723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000">
                <a:solidFill>
                  <a:srgbClr val="002C5C"/>
                </a:solidFill>
                <a:latin typeface="Poppins"/>
                <a:ea typeface="Poppins"/>
                <a:cs typeface="Poppins"/>
                <a:sym typeface="Poppins"/>
              </a:rPr>
              <a:t>Content</a:t>
            </a:r>
            <a:r>
              <a:rPr b="0" i="0" lang="en-US" sz="2000" u="none" cap="none" strike="noStrike">
                <a:solidFill>
                  <a:srgbClr val="002C5C"/>
                </a:solidFill>
                <a:latin typeface="Poppins"/>
                <a:ea typeface="Poppins"/>
                <a:cs typeface="Poppins"/>
                <a:sym typeface="Poppins"/>
              </a:rPr>
              <a:t> connects with audiences naturally, blending your brand message into trusted editorial environments. By providing value through storytelling, education, or inspiration, they build credibility, drive awareness, and encourage action. Aligning with high-quality journalism captures attention, earns trust, and boosts engagement, recall, and conversions.</a:t>
            </a:r>
            <a:endParaRPr b="0" i="0" sz="2000" u="none" cap="none" strike="noStrike">
              <a:solidFill>
                <a:srgbClr val="002C5C"/>
              </a:solidFill>
              <a:latin typeface="Poppins"/>
              <a:ea typeface="Poppins"/>
              <a:cs typeface="Poppins"/>
              <a:sym typeface="Poppins"/>
            </a:endParaRPr>
          </a:p>
        </p:txBody>
      </p:sp>
      <p:sp>
        <p:nvSpPr>
          <p:cNvPr id="309" name="Google Shape;309;p20"/>
          <p:cNvSpPr txBox="1"/>
          <p:nvPr/>
        </p:nvSpPr>
        <p:spPr>
          <a:xfrm>
            <a:off x="13739500" y="2116614"/>
            <a:ext cx="36027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002C5C"/>
                </a:solidFill>
                <a:latin typeface="Poppins"/>
                <a:ea typeface="Poppins"/>
                <a:cs typeface="Poppins"/>
                <a:sym typeface="Poppins"/>
              </a:rPr>
              <a:t>Brands that publish quality content on trusted news platforms see up to 67% more leads than those who don’t.</a:t>
            </a:r>
            <a:endParaRPr sz="1800">
              <a:solidFill>
                <a:srgbClr val="002C5C"/>
              </a:solidFill>
            </a:endParaRPr>
          </a:p>
        </p:txBody>
      </p:sp>
      <p:sp>
        <p:nvSpPr>
          <p:cNvPr id="310" name="Google Shape;310;p20"/>
          <p:cNvSpPr txBox="1"/>
          <p:nvPr/>
        </p:nvSpPr>
        <p:spPr>
          <a:xfrm>
            <a:off x="13739500" y="4778979"/>
            <a:ext cx="37578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002C5C"/>
                </a:solidFill>
                <a:latin typeface="Poppins"/>
                <a:ea typeface="Poppins"/>
                <a:cs typeface="Poppins"/>
                <a:sym typeface="Poppins"/>
              </a:rPr>
              <a:t>Native articles on publisher sites drive 53% higher engagement compared to brand-owned channels.</a:t>
            </a:r>
            <a:endParaRPr sz="1800">
              <a:solidFill>
                <a:srgbClr val="002C5C"/>
              </a:solidFill>
            </a:endParaRPr>
          </a:p>
        </p:txBody>
      </p:sp>
      <p:sp>
        <p:nvSpPr>
          <p:cNvPr id="311" name="Google Shape;311;p20"/>
          <p:cNvSpPr txBox="1"/>
          <p:nvPr/>
        </p:nvSpPr>
        <p:spPr>
          <a:xfrm>
            <a:off x="13778296" y="7579264"/>
            <a:ext cx="3680400" cy="1440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002C5C"/>
                </a:solidFill>
                <a:latin typeface="Poppins"/>
                <a:ea typeface="Poppins"/>
                <a:cs typeface="Poppins"/>
                <a:sym typeface="Poppins"/>
              </a:rPr>
              <a:t>Partnered content on established media platforms builds 3× more brand trust than traditional display ads.</a:t>
            </a:r>
            <a:endParaRPr sz="1800">
              <a:solidFill>
                <a:srgbClr val="002C5C"/>
              </a:solidFill>
            </a:endParaRPr>
          </a:p>
        </p:txBody>
      </p:sp>
      <p:sp>
        <p:nvSpPr>
          <p:cNvPr id="312" name="Google Shape;312;p20"/>
          <p:cNvSpPr txBox="1"/>
          <p:nvPr/>
        </p:nvSpPr>
        <p:spPr>
          <a:xfrm>
            <a:off x="867900" y="4465981"/>
            <a:ext cx="11007900" cy="369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002C5C"/>
                </a:solidFill>
                <a:latin typeface="Poppins"/>
                <a:ea typeface="Poppins"/>
                <a:cs typeface="Poppins"/>
                <a:sym typeface="Poppins"/>
              </a:rPr>
              <a:t>Placement: {{Slide 7 Content Placement}}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2000">
                <a:solidFill>
                  <a:srgbClr val="002C5C"/>
                </a:solidFill>
                <a:latin typeface="Poppins"/>
                <a:ea typeface="Poppins"/>
                <a:cs typeface="Poppins"/>
                <a:sym typeface="Poppins"/>
              </a:rPr>
              <a:t>Format: {{Slide 7 Content Format}}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rtl="0" algn="l">
              <a:lnSpc>
                <a:spcPct val="100000"/>
              </a:lnSpc>
              <a:spcBef>
                <a:spcPts val="1200"/>
              </a:spcBef>
              <a:spcAft>
                <a:spcPts val="0"/>
              </a:spcAft>
              <a:buNone/>
            </a:pPr>
            <a:r>
              <a:rPr b="1" i="0" lang="en-US" sz="2000" u="none" cap="none" strike="noStrike">
                <a:solidFill>
                  <a:srgbClr val="002C5C"/>
                </a:solidFill>
                <a:latin typeface="Poppins"/>
                <a:ea typeface="Poppins"/>
                <a:cs typeface="Poppins"/>
                <a:sym typeface="Poppins"/>
              </a:rPr>
              <a:t>Goal</a:t>
            </a:r>
            <a:r>
              <a:rPr b="0" i="0" lang="en-US" sz="2000" u="none" cap="none" strike="noStrike">
                <a:solidFill>
                  <a:srgbClr val="002C5C"/>
                </a:solidFill>
                <a:latin typeface="Poppins"/>
                <a:ea typeface="Poppins"/>
                <a:cs typeface="Poppins"/>
                <a:sym typeface="Poppins"/>
              </a:rPr>
              <a:t>: </a:t>
            </a:r>
            <a:r>
              <a:rPr lang="en-US" sz="2000">
                <a:solidFill>
                  <a:srgbClr val="002C5C"/>
                </a:solidFill>
                <a:latin typeface="Poppins"/>
                <a:ea typeface="Poppins"/>
                <a:cs typeface="Poppins"/>
                <a:sym typeface="Poppins"/>
              </a:rPr>
              <a:t>To build awareness, drive audience engagement, and position the brand as a credible and authoritative voice within its industry, ultimately moving audiences from awareness to consideration.</a:t>
            </a:r>
            <a:endParaRPr sz="2000">
              <a:solidFill>
                <a:srgbClr val="002C5C"/>
              </a:solidFill>
              <a:latin typeface="Poppins"/>
              <a:ea typeface="Poppins"/>
              <a:cs typeface="Poppins"/>
              <a:sym typeface="Poppins"/>
            </a:endParaRPr>
          </a:p>
          <a:p>
            <a:pPr indent="0" lvl="0" marL="0" rtl="0" algn="l">
              <a:lnSpc>
                <a:spcPct val="100000"/>
              </a:lnSpc>
              <a:spcBef>
                <a:spcPts val="1200"/>
              </a:spcBef>
              <a:spcAft>
                <a:spcPts val="0"/>
              </a:spcAft>
              <a:buNone/>
            </a:pPr>
            <a:r>
              <a:rPr b="1" lang="en-US" sz="2000">
                <a:solidFill>
                  <a:srgbClr val="002C5C"/>
                </a:solidFill>
                <a:latin typeface="Poppins"/>
                <a:ea typeface="Poppins"/>
                <a:cs typeface="Poppins"/>
                <a:sym typeface="Poppins"/>
              </a:rPr>
              <a:t>Marketing Funnel Objective: </a:t>
            </a:r>
            <a:r>
              <a:rPr lang="en-US" sz="2000">
                <a:solidFill>
                  <a:srgbClr val="002C5C"/>
                </a:solidFill>
                <a:latin typeface="Poppins"/>
                <a:ea typeface="Poppins"/>
                <a:cs typeface="Poppins"/>
                <a:sym typeface="Poppins"/>
              </a:rPr>
              <a:t>Awareness → Consideration</a:t>
            </a:r>
            <a:endParaRPr sz="2000">
              <a:solidFill>
                <a:srgbClr val="002C5C"/>
              </a:solidFill>
              <a:latin typeface="Poppins"/>
              <a:ea typeface="Poppins"/>
              <a:cs typeface="Poppins"/>
              <a:sym typeface="Poppins"/>
            </a:endParaRPr>
          </a:p>
          <a:p>
            <a:pPr indent="0" lvl="0" marL="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rtl="0" algn="l">
              <a:lnSpc>
                <a:spcPct val="100000"/>
              </a:lnSpc>
              <a:spcBef>
                <a:spcPts val="0"/>
              </a:spcBef>
              <a:spcAft>
                <a:spcPts val="0"/>
              </a:spcAft>
              <a:buNone/>
            </a:pPr>
            <a:r>
              <a:rPr b="1" lang="en-US" sz="2000">
                <a:solidFill>
                  <a:srgbClr val="002C5C"/>
                </a:solidFill>
                <a:latin typeface="Poppins"/>
                <a:ea typeface="Poppins"/>
                <a:cs typeface="Poppins"/>
                <a:sym typeface="Poppins"/>
              </a:rPr>
              <a:t>Metric:</a:t>
            </a:r>
            <a:r>
              <a:rPr lang="en-US" sz="2000">
                <a:solidFill>
                  <a:srgbClr val="002C5C"/>
                </a:solidFill>
                <a:latin typeface="Poppins"/>
                <a:ea typeface="Poppins"/>
                <a:cs typeface="Poppins"/>
                <a:sym typeface="Poppins"/>
              </a:rPr>
              <a:t> Users, Pageviews</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0" i="0" sz="2000" u="none" cap="none" strike="noStrike">
              <a:solidFill>
                <a:srgbClr val="002C5C"/>
              </a:solidFill>
              <a:latin typeface="Poppins"/>
              <a:ea typeface="Poppins"/>
              <a:cs typeface="Poppins"/>
              <a:sym typeface="Poppins"/>
            </a:endParaRPr>
          </a:p>
        </p:txBody>
      </p:sp>
      <p:cxnSp>
        <p:nvCxnSpPr>
          <p:cNvPr id="313" name="Google Shape;313;p20"/>
          <p:cNvCxnSpPr/>
          <p:nvPr/>
        </p:nvCxnSpPr>
        <p:spPr>
          <a:xfrm>
            <a:off x="832417" y="4269352"/>
            <a:ext cx="9995100" cy="0"/>
          </a:xfrm>
          <a:prstGeom prst="straightConnector1">
            <a:avLst/>
          </a:prstGeom>
          <a:noFill/>
          <a:ln cap="rnd" cmpd="sng" w="9525">
            <a:solidFill>
              <a:srgbClr val="002C5C"/>
            </a:solidFill>
            <a:prstDash val="solid"/>
            <a:round/>
            <a:headEnd len="sm" w="sm" type="none"/>
            <a:tailEnd len="sm" w="sm" type="none"/>
          </a:ln>
        </p:spPr>
      </p:cxnSp>
      <p:grpSp>
        <p:nvGrpSpPr>
          <p:cNvPr id="314" name="Google Shape;314;p20"/>
          <p:cNvGrpSpPr/>
          <p:nvPr/>
        </p:nvGrpSpPr>
        <p:grpSpPr>
          <a:xfrm>
            <a:off x="12505025" y="1990219"/>
            <a:ext cx="577850" cy="6667425"/>
            <a:chOff x="12308284" y="1990219"/>
            <a:chExt cx="577850" cy="6667425"/>
          </a:xfrm>
        </p:grpSpPr>
        <p:cxnSp>
          <p:nvCxnSpPr>
            <p:cNvPr id="315" name="Google Shape;315;p20"/>
            <p:cNvCxnSpPr/>
            <p:nvPr/>
          </p:nvCxnSpPr>
          <p:spPr>
            <a:xfrm>
              <a:off x="12606620" y="2247144"/>
              <a:ext cx="0" cy="6140700"/>
            </a:xfrm>
            <a:prstGeom prst="straightConnector1">
              <a:avLst/>
            </a:prstGeom>
            <a:noFill/>
            <a:ln cap="flat" cmpd="sng" w="50800">
              <a:solidFill>
                <a:srgbClr val="002C5C"/>
              </a:solidFill>
              <a:prstDash val="solid"/>
              <a:round/>
              <a:headEnd len="sm" w="sm" type="none"/>
              <a:tailEnd len="sm" w="sm" type="none"/>
            </a:ln>
          </p:spPr>
        </p:cxnSp>
        <p:sp>
          <p:nvSpPr>
            <p:cNvPr id="316" name="Google Shape;316;p20"/>
            <p:cNvSpPr/>
            <p:nvPr/>
          </p:nvSpPr>
          <p:spPr>
            <a:xfrm>
              <a:off x="12327334" y="1990219"/>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0"/>
            <p:cNvSpPr/>
            <p:nvPr/>
          </p:nvSpPr>
          <p:spPr>
            <a:xfrm>
              <a:off x="12308284" y="503823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8888"/>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0"/>
            <p:cNvSpPr/>
            <p:nvPr/>
          </p:nvSpPr>
          <p:spPr>
            <a:xfrm>
              <a:off x="12308547" y="809884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19" name="Google Shape;319;p20"/>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20" name="Google Shape;320;p20"/>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21" name="Google Shape;321;p20"/>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 name="Shape 325"/>
        <p:cNvGrpSpPr/>
        <p:nvPr/>
      </p:nvGrpSpPr>
      <p:grpSpPr>
        <a:xfrm>
          <a:off x="0" y="0"/>
          <a:ext cx="0" cy="0"/>
          <a:chOff x="0" y="0"/>
          <a:chExt cx="0" cy="0"/>
        </a:xfrm>
      </p:grpSpPr>
      <p:sp>
        <p:nvSpPr>
          <p:cNvPr id="326" name="Google Shape;326;p21"/>
          <p:cNvSpPr txBox="1"/>
          <p:nvPr/>
        </p:nvSpPr>
        <p:spPr>
          <a:xfrm>
            <a:off x="840582" y="931601"/>
            <a:ext cx="140946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i="0" lang="en-US" sz="9999" u="none" cap="none" strike="noStrike">
                <a:solidFill>
                  <a:srgbClr val="002C5C"/>
                </a:solidFill>
                <a:latin typeface="Anton"/>
                <a:ea typeface="Anton"/>
                <a:cs typeface="Anton"/>
                <a:sym typeface="Anton"/>
              </a:rPr>
              <a:t>SOCIAL</a:t>
            </a:r>
            <a:r>
              <a:rPr i="0" lang="en-US" sz="9999" u="none" cap="none" strike="noStrike">
                <a:solidFill>
                  <a:schemeClr val="lt1"/>
                </a:solidFill>
                <a:latin typeface="Anton"/>
                <a:ea typeface="Anton"/>
                <a:cs typeface="Anton"/>
                <a:sym typeface="Anton"/>
              </a:rPr>
              <a:t> </a:t>
            </a:r>
            <a:r>
              <a:rPr i="0" lang="en-US" sz="9999" u="none" cap="none" strike="noStrike">
                <a:solidFill>
                  <a:srgbClr val="888888"/>
                </a:solidFill>
                <a:latin typeface="Anton"/>
                <a:ea typeface="Anton"/>
                <a:cs typeface="Anton"/>
                <a:sym typeface="Anton"/>
              </a:rPr>
              <a:t>MEDIA </a:t>
            </a:r>
            <a:endParaRPr>
              <a:solidFill>
                <a:srgbClr val="888888"/>
              </a:solidFill>
              <a:latin typeface="Anton"/>
              <a:ea typeface="Anton"/>
              <a:cs typeface="Anton"/>
              <a:sym typeface="Anton"/>
            </a:endParaRPr>
          </a:p>
        </p:txBody>
      </p:sp>
      <p:sp>
        <p:nvSpPr>
          <p:cNvPr id="327" name="Google Shape;327;p21"/>
          <p:cNvSpPr txBox="1"/>
          <p:nvPr/>
        </p:nvSpPr>
        <p:spPr>
          <a:xfrm>
            <a:off x="790575" y="2536544"/>
            <a:ext cx="11310000" cy="1723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u="none" cap="none" strike="noStrike">
                <a:solidFill>
                  <a:srgbClr val="002C5C"/>
                </a:solidFill>
                <a:latin typeface="Poppins"/>
                <a:ea typeface="Poppins"/>
                <a:cs typeface="Poppins"/>
                <a:sym typeface="Poppins"/>
              </a:rPr>
              <a:t>Sharing your brand via our social channels gives instant access to an engaged, trusting community. Positioned as organic content rather than a competing ad, your message drives authentic engagement, stronger brand association, and higher credibility. Leverage our reach to connect with an active, receptive audience for maximum visibility and influence.</a:t>
            </a:r>
            <a:endParaRPr b="0" i="0" sz="2000" u="none" cap="none" strike="noStrike">
              <a:solidFill>
                <a:srgbClr val="002C5C"/>
              </a:solidFill>
              <a:latin typeface="Poppins"/>
              <a:ea typeface="Poppins"/>
              <a:cs typeface="Poppins"/>
              <a:sym typeface="Poppins"/>
            </a:endParaRPr>
          </a:p>
        </p:txBody>
      </p:sp>
      <p:sp>
        <p:nvSpPr>
          <p:cNvPr id="328" name="Google Shape;328;p21"/>
          <p:cNvSpPr txBox="1"/>
          <p:nvPr/>
        </p:nvSpPr>
        <p:spPr>
          <a:xfrm>
            <a:off x="13489158" y="2070821"/>
            <a:ext cx="3779700" cy="82500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i="0" lang="en-US" sz="2000" u="none" cap="none" strike="noStrike">
                <a:solidFill>
                  <a:srgbClr val="002C5C"/>
                </a:solidFill>
                <a:latin typeface="Poppins"/>
                <a:ea typeface="Poppins"/>
                <a:cs typeface="Poppins"/>
                <a:sym typeface="Poppins"/>
              </a:rPr>
              <a:t>Instant access to an engaged, trusting audience</a:t>
            </a:r>
            <a:endParaRPr>
              <a:solidFill>
                <a:srgbClr val="002C5C"/>
              </a:solidFill>
            </a:endParaRPr>
          </a:p>
        </p:txBody>
      </p:sp>
      <p:sp>
        <p:nvSpPr>
          <p:cNvPr id="329" name="Google Shape;329;p21"/>
          <p:cNvSpPr txBox="1"/>
          <p:nvPr/>
        </p:nvSpPr>
        <p:spPr>
          <a:xfrm>
            <a:off x="13489143" y="4942174"/>
            <a:ext cx="4286100" cy="1169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002C5C"/>
                </a:solidFill>
                <a:latin typeface="Poppins"/>
                <a:ea typeface="Poppins"/>
                <a:cs typeface="Poppins"/>
                <a:sym typeface="Poppins"/>
              </a:rPr>
              <a:t>Organic placement drives authentic engagement and credibility</a:t>
            </a:r>
            <a:endParaRPr>
              <a:solidFill>
                <a:srgbClr val="002C5C"/>
              </a:solidFill>
            </a:endParaRPr>
          </a:p>
        </p:txBody>
      </p:sp>
      <p:sp>
        <p:nvSpPr>
          <p:cNvPr id="330" name="Google Shape;330;p21"/>
          <p:cNvSpPr txBox="1"/>
          <p:nvPr/>
        </p:nvSpPr>
        <p:spPr>
          <a:xfrm>
            <a:off x="13527718" y="8048219"/>
            <a:ext cx="4209000" cy="738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2C5C"/>
                </a:solidFill>
                <a:latin typeface="Poppins"/>
                <a:ea typeface="Poppins"/>
                <a:cs typeface="Poppins"/>
                <a:sym typeface="Poppins"/>
              </a:rPr>
              <a:t>Maximized visibility with stronger brand association and influence</a:t>
            </a:r>
            <a:endParaRPr>
              <a:solidFill>
                <a:srgbClr val="002C5C"/>
              </a:solidFill>
            </a:endParaRPr>
          </a:p>
        </p:txBody>
      </p:sp>
      <p:sp>
        <p:nvSpPr>
          <p:cNvPr id="331" name="Google Shape;331;p21"/>
          <p:cNvSpPr txBox="1"/>
          <p:nvPr/>
        </p:nvSpPr>
        <p:spPr>
          <a:xfrm>
            <a:off x="893257" y="4706390"/>
            <a:ext cx="11310000" cy="4186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002C5C"/>
                </a:solidFill>
                <a:latin typeface="Poppins"/>
                <a:ea typeface="Poppins"/>
                <a:cs typeface="Poppins"/>
                <a:sym typeface="Poppins"/>
              </a:rPr>
              <a:t>Placement: {{Slide 8 Social Media Placement}}                                              </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0" i="0" sz="2000" u="none" cap="none" strike="noStrike">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rPr b="1" i="0" lang="en-US" sz="2000" u="none" cap="none" strike="noStrike">
                <a:solidFill>
                  <a:srgbClr val="002C5C"/>
                </a:solidFill>
                <a:latin typeface="Poppins"/>
                <a:ea typeface="Poppins"/>
                <a:cs typeface="Poppins"/>
                <a:sym typeface="Poppins"/>
              </a:rPr>
              <a:t>Format</a:t>
            </a:r>
            <a:r>
              <a:rPr b="0" i="0" lang="en-US" sz="2000" u="none" cap="none" strike="noStrike">
                <a:solidFill>
                  <a:srgbClr val="002C5C"/>
                </a:solidFill>
                <a:latin typeface="Poppins"/>
                <a:ea typeface="Poppins"/>
                <a:cs typeface="Poppins"/>
                <a:sym typeface="Poppins"/>
              </a:rPr>
              <a:t>: Static Images, Carousels, GIFs, 10–30 second video clips</a:t>
            </a:r>
            <a:endParaRPr sz="2000">
              <a:solidFill>
                <a:srgbClr val="002C5C"/>
              </a:solidFill>
            </a:endParaRPr>
          </a:p>
          <a:p>
            <a:pPr indent="0" lvl="0" marL="0" marR="0" rtl="0" algn="l">
              <a:lnSpc>
                <a:spcPct val="100000"/>
              </a:lnSpc>
              <a:spcBef>
                <a:spcPts val="0"/>
              </a:spcBef>
              <a:spcAft>
                <a:spcPts val="0"/>
              </a:spcAft>
              <a:buNone/>
            </a:pPr>
            <a:r>
              <a:t/>
            </a:r>
            <a:endParaRPr b="0" i="0" sz="2000" u="none" cap="none" strike="noStrike">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000">
                <a:solidFill>
                  <a:srgbClr val="002C5C"/>
                </a:solidFill>
                <a:latin typeface="Poppins"/>
                <a:ea typeface="Poppins"/>
                <a:cs typeface="Poppins"/>
                <a:sym typeface="Poppins"/>
              </a:rPr>
              <a:t>Goal: </a:t>
            </a:r>
            <a:r>
              <a:rPr lang="en-US" sz="2000">
                <a:solidFill>
                  <a:srgbClr val="002C5C"/>
                </a:solidFill>
                <a:latin typeface="Poppins"/>
                <a:ea typeface="Poppins"/>
                <a:cs typeface="Poppins"/>
                <a:sym typeface="Poppins"/>
              </a:rPr>
              <a:t>To amplify partnered content and brand storytelling by reaching wider, targeted audiences beyond organic reach. Social media boosting will drive measurable visibility, engagement, and brand affinity, positioning the brand as credible, relevant, and impactful within its market.</a:t>
            </a:r>
            <a:endParaRPr sz="2000">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rgbClr val="002C5C"/>
              </a:solidFill>
              <a:latin typeface="Poppins"/>
              <a:ea typeface="Poppins"/>
              <a:cs typeface="Poppins"/>
              <a:sym typeface="Poppins"/>
            </a:endParaRPr>
          </a:p>
          <a:p>
            <a:pPr indent="0" lvl="0" marL="0" rtl="0" algn="l">
              <a:lnSpc>
                <a:spcPct val="100000"/>
              </a:lnSpc>
              <a:spcBef>
                <a:spcPts val="0"/>
              </a:spcBef>
              <a:spcAft>
                <a:spcPts val="0"/>
              </a:spcAft>
              <a:buClr>
                <a:schemeClr val="dk1"/>
              </a:buClr>
              <a:buFont typeface="Arial"/>
              <a:buNone/>
            </a:pPr>
            <a:r>
              <a:rPr b="1" lang="en-US" sz="2000">
                <a:solidFill>
                  <a:srgbClr val="002C5C"/>
                </a:solidFill>
                <a:latin typeface="Poppins"/>
                <a:ea typeface="Poppins"/>
                <a:cs typeface="Poppins"/>
                <a:sym typeface="Poppins"/>
              </a:rPr>
              <a:t>Marketing Funnel Objective: </a:t>
            </a:r>
            <a:r>
              <a:rPr lang="en-US" sz="2000">
                <a:solidFill>
                  <a:srgbClr val="002C5C"/>
                </a:solidFill>
                <a:latin typeface="Poppins"/>
                <a:ea typeface="Poppins"/>
                <a:cs typeface="Poppins"/>
                <a:sym typeface="Poppins"/>
              </a:rPr>
              <a:t>Awareness</a:t>
            </a:r>
            <a:endParaRPr sz="2000">
              <a:solidFill>
                <a:srgbClr val="002C5C"/>
              </a:solidFill>
              <a:latin typeface="Poppins"/>
              <a:ea typeface="Poppins"/>
              <a:cs typeface="Poppins"/>
              <a:sym typeface="Poppins"/>
            </a:endParaRPr>
          </a:p>
          <a:p>
            <a:pPr indent="0" lvl="0" marL="0" rtl="0" algn="l">
              <a:lnSpc>
                <a:spcPct val="100000"/>
              </a:lnSpc>
              <a:spcBef>
                <a:spcPts val="0"/>
              </a:spcBef>
              <a:spcAft>
                <a:spcPts val="0"/>
              </a:spcAft>
              <a:buClr>
                <a:schemeClr val="dk1"/>
              </a:buClr>
              <a:buFont typeface="Arial"/>
              <a:buNone/>
            </a:pPr>
            <a:r>
              <a:t/>
            </a:r>
            <a:endParaRPr sz="2000">
              <a:solidFill>
                <a:srgbClr val="002C5C"/>
              </a:solidFill>
              <a:latin typeface="Poppins"/>
              <a:ea typeface="Poppins"/>
              <a:cs typeface="Poppins"/>
              <a:sym typeface="Poppins"/>
            </a:endParaRPr>
          </a:p>
          <a:p>
            <a:pPr indent="0" lvl="0" marL="0" rtl="0" algn="l">
              <a:lnSpc>
                <a:spcPct val="100000"/>
              </a:lnSpc>
              <a:spcBef>
                <a:spcPts val="0"/>
              </a:spcBef>
              <a:spcAft>
                <a:spcPts val="0"/>
              </a:spcAft>
              <a:buClr>
                <a:schemeClr val="dk1"/>
              </a:buClr>
              <a:buFont typeface="Arial"/>
              <a:buNone/>
            </a:pPr>
            <a:r>
              <a:rPr b="1" lang="en-US" sz="2000">
                <a:solidFill>
                  <a:srgbClr val="002C5C"/>
                </a:solidFill>
                <a:latin typeface="Poppins"/>
                <a:ea typeface="Poppins"/>
                <a:cs typeface="Poppins"/>
                <a:sym typeface="Poppins"/>
              </a:rPr>
              <a:t>Metrics: </a:t>
            </a:r>
            <a:r>
              <a:rPr lang="en-US" sz="2000">
                <a:solidFill>
                  <a:srgbClr val="002C5C"/>
                </a:solidFill>
                <a:latin typeface="Poppins"/>
                <a:ea typeface="Poppins"/>
                <a:cs typeface="Poppins"/>
                <a:sym typeface="Poppins"/>
              </a:rPr>
              <a:t>Reach, Impressions,</a:t>
            </a:r>
            <a:endParaRPr b="0" i="0" sz="2000" u="none" cap="none" strike="noStrike">
              <a:solidFill>
                <a:srgbClr val="002C5C"/>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0" i="0" sz="2000" u="none" cap="none" strike="noStrike">
              <a:solidFill>
                <a:srgbClr val="002C5C"/>
              </a:solidFill>
              <a:latin typeface="Poppins"/>
              <a:ea typeface="Poppins"/>
              <a:cs typeface="Poppins"/>
              <a:sym typeface="Poppins"/>
            </a:endParaRPr>
          </a:p>
        </p:txBody>
      </p:sp>
      <p:cxnSp>
        <p:nvCxnSpPr>
          <p:cNvPr id="332" name="Google Shape;332;p21"/>
          <p:cNvCxnSpPr/>
          <p:nvPr/>
        </p:nvCxnSpPr>
        <p:spPr>
          <a:xfrm>
            <a:off x="706659" y="4508535"/>
            <a:ext cx="9995100" cy="0"/>
          </a:xfrm>
          <a:prstGeom prst="straightConnector1">
            <a:avLst/>
          </a:prstGeom>
          <a:noFill/>
          <a:ln cap="rnd" cmpd="sng" w="9525">
            <a:solidFill>
              <a:srgbClr val="002C5C"/>
            </a:solidFill>
            <a:prstDash val="solid"/>
            <a:round/>
            <a:headEnd len="sm" w="sm" type="none"/>
            <a:tailEnd len="sm" w="sm" type="none"/>
          </a:ln>
        </p:spPr>
      </p:cxnSp>
      <p:grpSp>
        <p:nvGrpSpPr>
          <p:cNvPr id="333" name="Google Shape;333;p21"/>
          <p:cNvGrpSpPr/>
          <p:nvPr/>
        </p:nvGrpSpPr>
        <p:grpSpPr>
          <a:xfrm>
            <a:off x="12454722" y="1990219"/>
            <a:ext cx="577850" cy="6667425"/>
            <a:chOff x="12308284" y="1990219"/>
            <a:chExt cx="577850" cy="6667425"/>
          </a:xfrm>
        </p:grpSpPr>
        <p:cxnSp>
          <p:nvCxnSpPr>
            <p:cNvPr id="334" name="Google Shape;334;p21"/>
            <p:cNvCxnSpPr/>
            <p:nvPr/>
          </p:nvCxnSpPr>
          <p:spPr>
            <a:xfrm>
              <a:off x="12606620" y="2247144"/>
              <a:ext cx="0" cy="6140700"/>
            </a:xfrm>
            <a:prstGeom prst="straightConnector1">
              <a:avLst/>
            </a:prstGeom>
            <a:noFill/>
            <a:ln cap="flat" cmpd="sng" w="50800">
              <a:solidFill>
                <a:srgbClr val="002C5C"/>
              </a:solidFill>
              <a:prstDash val="solid"/>
              <a:round/>
              <a:headEnd len="sm" w="sm" type="none"/>
              <a:tailEnd len="sm" w="sm" type="none"/>
            </a:ln>
          </p:spPr>
        </p:cxnSp>
        <p:sp>
          <p:nvSpPr>
            <p:cNvPr id="335" name="Google Shape;335;p21"/>
            <p:cNvSpPr/>
            <p:nvPr/>
          </p:nvSpPr>
          <p:spPr>
            <a:xfrm>
              <a:off x="12327334" y="1990219"/>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1"/>
            <p:cNvSpPr/>
            <p:nvPr/>
          </p:nvSpPr>
          <p:spPr>
            <a:xfrm>
              <a:off x="12308284" y="503823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8888"/>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1"/>
            <p:cNvSpPr/>
            <p:nvPr/>
          </p:nvSpPr>
          <p:spPr>
            <a:xfrm>
              <a:off x="12308547" y="809884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8" name="Google Shape;338;p21"/>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39" name="Google Shape;339;p21"/>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40" name="Google Shape;340;p21"/>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22"/>
          <p:cNvSpPr txBox="1"/>
          <p:nvPr/>
        </p:nvSpPr>
        <p:spPr>
          <a:xfrm>
            <a:off x="840582" y="931601"/>
            <a:ext cx="140946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i="0" lang="en-US" sz="9999" u="none" cap="none" strike="noStrike">
                <a:solidFill>
                  <a:srgbClr val="002C5C"/>
                </a:solidFill>
                <a:latin typeface="Anton"/>
                <a:ea typeface="Anton"/>
                <a:cs typeface="Anton"/>
                <a:sym typeface="Anton"/>
              </a:rPr>
              <a:t>PAID</a:t>
            </a:r>
            <a:r>
              <a:rPr i="0" lang="en-US" sz="9999" u="none" cap="none" strike="noStrike">
                <a:solidFill>
                  <a:schemeClr val="lt1"/>
                </a:solidFill>
                <a:latin typeface="Anton"/>
                <a:ea typeface="Anton"/>
                <a:cs typeface="Anton"/>
                <a:sym typeface="Anton"/>
              </a:rPr>
              <a:t> </a:t>
            </a:r>
            <a:r>
              <a:rPr i="0" lang="en-US" sz="9999" u="none" cap="none" strike="noStrike">
                <a:solidFill>
                  <a:srgbClr val="9E9E9E"/>
                </a:solidFill>
                <a:latin typeface="Anton"/>
                <a:ea typeface="Anton"/>
                <a:cs typeface="Anton"/>
                <a:sym typeface="Anton"/>
              </a:rPr>
              <a:t>MEDIA</a:t>
            </a:r>
            <a:endParaRPr>
              <a:solidFill>
                <a:srgbClr val="9E9E9E"/>
              </a:solidFill>
              <a:latin typeface="Anton"/>
              <a:ea typeface="Anton"/>
              <a:cs typeface="Anton"/>
              <a:sym typeface="Anton"/>
            </a:endParaRPr>
          </a:p>
        </p:txBody>
      </p:sp>
      <p:sp>
        <p:nvSpPr>
          <p:cNvPr id="346" name="Google Shape;346;p22"/>
          <p:cNvSpPr txBox="1"/>
          <p:nvPr/>
        </p:nvSpPr>
        <p:spPr>
          <a:xfrm>
            <a:off x="790575" y="2292100"/>
            <a:ext cx="11704200" cy="155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800">
                <a:solidFill>
                  <a:srgbClr val="002C5C"/>
                </a:solidFill>
                <a:latin typeface="Poppins"/>
                <a:ea typeface="Poppins"/>
                <a:cs typeface="Poppins"/>
                <a:sym typeface="Poppins"/>
              </a:rPr>
              <a:t>Pa</a:t>
            </a:r>
            <a:r>
              <a:rPr lang="en-US" sz="1800">
                <a:solidFill>
                  <a:srgbClr val="002C5C"/>
                </a:solidFill>
                <a:latin typeface="Poppins"/>
                <a:ea typeface="Poppins"/>
                <a:cs typeface="Poppins"/>
                <a:sym typeface="Poppins"/>
              </a:rPr>
              <a:t>id Media advertising </a:t>
            </a:r>
            <a:r>
              <a:rPr b="0" i="0" lang="en-US" sz="1800" u="none" cap="none" strike="noStrike">
                <a:solidFill>
                  <a:srgbClr val="002C5C"/>
                </a:solidFill>
                <a:latin typeface="Poppins"/>
                <a:ea typeface="Poppins"/>
                <a:cs typeface="Poppins"/>
                <a:sym typeface="Poppins"/>
              </a:rPr>
              <a:t>deliver</a:t>
            </a:r>
            <a:r>
              <a:rPr lang="en-US" sz="1800">
                <a:solidFill>
                  <a:srgbClr val="002C5C"/>
                </a:solidFill>
                <a:latin typeface="Poppins"/>
                <a:ea typeface="Poppins"/>
                <a:cs typeface="Poppins"/>
                <a:sym typeface="Poppins"/>
              </a:rPr>
              <a:t>s</a:t>
            </a:r>
            <a:r>
              <a:rPr b="0" i="0" lang="en-US" sz="1800" u="none" cap="none" strike="noStrike">
                <a:solidFill>
                  <a:srgbClr val="002C5C"/>
                </a:solidFill>
                <a:latin typeface="Poppins"/>
                <a:ea typeface="Poppins"/>
                <a:cs typeface="Poppins"/>
                <a:sym typeface="Poppins"/>
              </a:rPr>
              <a:t> precision-targeted reach at scale. Programmatic ads reach the right audience across premium sites and apps, while boosted social posts extend visibility beyond organic reach. Together, they drive measurable performance—maximizing engagement, conversions, and ROI.</a:t>
            </a:r>
            <a:endParaRPr b="0" i="0" sz="1800" u="none" cap="none" strike="noStrike">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1800">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rPr b="0" i="0" lang="en-US" sz="1800" u="none" cap="none" strike="noStrike">
                <a:solidFill>
                  <a:srgbClr val="002C5C"/>
                </a:solidFill>
                <a:latin typeface="Poppins"/>
                <a:ea typeface="Poppins"/>
                <a:cs typeface="Poppins"/>
                <a:sym typeface="Poppins"/>
              </a:rPr>
              <a:t>Key Placements: DV360, Google Ads, YouTube, CTV, Display, Facebook, Instagram, Messenger, </a:t>
            </a:r>
            <a:r>
              <a:rPr lang="en-US" sz="1800">
                <a:solidFill>
                  <a:srgbClr val="002C5C"/>
                </a:solidFill>
                <a:latin typeface="Poppins"/>
                <a:ea typeface="Poppins"/>
                <a:cs typeface="Poppins"/>
                <a:sym typeface="Poppins"/>
              </a:rPr>
              <a:t>etc.</a:t>
            </a:r>
            <a:endParaRPr b="0" i="0" sz="1800" u="none" cap="none" strike="noStrike">
              <a:solidFill>
                <a:srgbClr val="002C5C"/>
              </a:solidFill>
              <a:latin typeface="Poppins"/>
              <a:ea typeface="Poppins"/>
              <a:cs typeface="Poppins"/>
              <a:sym typeface="Poppins"/>
            </a:endParaRPr>
          </a:p>
        </p:txBody>
      </p:sp>
      <p:sp>
        <p:nvSpPr>
          <p:cNvPr id="347" name="Google Shape;347;p22"/>
          <p:cNvSpPr txBox="1"/>
          <p:nvPr/>
        </p:nvSpPr>
        <p:spPr>
          <a:xfrm>
            <a:off x="14226729" y="2326133"/>
            <a:ext cx="19743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2C5C"/>
                </a:solidFill>
                <a:latin typeface="Poppins"/>
                <a:ea typeface="Poppins"/>
                <a:cs typeface="Poppins"/>
                <a:sym typeface="Poppins"/>
              </a:rPr>
              <a:t>Amplifies reach</a:t>
            </a:r>
            <a:endParaRPr>
              <a:solidFill>
                <a:srgbClr val="002C5C"/>
              </a:solidFill>
            </a:endParaRPr>
          </a:p>
        </p:txBody>
      </p:sp>
      <p:sp>
        <p:nvSpPr>
          <p:cNvPr id="348" name="Google Shape;348;p22"/>
          <p:cNvSpPr txBox="1"/>
          <p:nvPr/>
        </p:nvSpPr>
        <p:spPr>
          <a:xfrm>
            <a:off x="14226733" y="5230964"/>
            <a:ext cx="30354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2C5C"/>
                </a:solidFill>
                <a:latin typeface="Poppins"/>
                <a:ea typeface="Poppins"/>
                <a:cs typeface="Poppins"/>
                <a:sym typeface="Poppins"/>
              </a:rPr>
              <a:t>Optimized performance</a:t>
            </a:r>
            <a:endParaRPr>
              <a:solidFill>
                <a:srgbClr val="002C5C"/>
              </a:solidFill>
            </a:endParaRPr>
          </a:p>
        </p:txBody>
      </p:sp>
      <p:sp>
        <p:nvSpPr>
          <p:cNvPr id="349" name="Google Shape;349;p22"/>
          <p:cNvSpPr txBox="1"/>
          <p:nvPr/>
        </p:nvSpPr>
        <p:spPr>
          <a:xfrm>
            <a:off x="14226729" y="8075265"/>
            <a:ext cx="3459300" cy="30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002C5C"/>
                </a:solidFill>
                <a:latin typeface="Poppins"/>
                <a:ea typeface="Poppins"/>
                <a:cs typeface="Poppins"/>
                <a:sym typeface="Poppins"/>
              </a:rPr>
              <a:t>Precision targeting at scale</a:t>
            </a:r>
            <a:endParaRPr>
              <a:solidFill>
                <a:srgbClr val="002C5C"/>
              </a:solidFill>
            </a:endParaRPr>
          </a:p>
        </p:txBody>
      </p:sp>
      <p:sp>
        <p:nvSpPr>
          <p:cNvPr id="350" name="Google Shape;350;p22"/>
          <p:cNvSpPr txBox="1"/>
          <p:nvPr/>
        </p:nvSpPr>
        <p:spPr>
          <a:xfrm>
            <a:off x="845617" y="4780890"/>
            <a:ext cx="12125400" cy="342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2C5C"/>
                </a:solidFill>
                <a:latin typeface="Poppins"/>
                <a:ea typeface="Poppins"/>
                <a:cs typeface="Poppins"/>
                <a:sym typeface="Poppins"/>
              </a:rPr>
              <a:t>Placement: {{Slide 9 Paid Media Placement}}                                                 </a:t>
            </a:r>
            <a:endParaRPr sz="1800">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0" i="0" sz="1800" u="none" cap="none" strike="noStrike">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rPr b="1" i="0" lang="en-US" sz="1800" u="none" cap="none" strike="noStrike">
                <a:solidFill>
                  <a:srgbClr val="002C5C"/>
                </a:solidFill>
                <a:latin typeface="Poppins"/>
                <a:ea typeface="Poppins"/>
                <a:cs typeface="Poppins"/>
                <a:sym typeface="Poppins"/>
              </a:rPr>
              <a:t>Format</a:t>
            </a:r>
            <a:r>
              <a:rPr b="0" i="0" lang="en-US" sz="1800" u="none" cap="none" strike="noStrike">
                <a:solidFill>
                  <a:srgbClr val="002C5C"/>
                </a:solidFill>
                <a:latin typeface="Poppins"/>
                <a:ea typeface="Poppins"/>
                <a:cs typeface="Poppins"/>
                <a:sym typeface="Poppins"/>
              </a:rPr>
              <a:t>: Static Images, Carousels, GIFs, 10–30 second video clips - </a:t>
            </a:r>
            <a:r>
              <a:rPr b="0" i="1" lang="en-US" sz="1800" u="none" cap="none" strike="noStrike">
                <a:solidFill>
                  <a:srgbClr val="002C5C"/>
                </a:solidFill>
                <a:latin typeface="Poppins"/>
                <a:ea typeface="Poppins"/>
                <a:cs typeface="Poppins"/>
                <a:sym typeface="Poppins"/>
              </a:rPr>
              <a:t>dependent on placement</a:t>
            </a:r>
            <a:endParaRPr i="1" sz="1800">
              <a:solidFill>
                <a:srgbClr val="002C5C"/>
              </a:solidFill>
            </a:endParaRPr>
          </a:p>
          <a:p>
            <a:pPr indent="0" lvl="0" marL="0" marR="0" rtl="0" algn="l">
              <a:lnSpc>
                <a:spcPct val="115000"/>
              </a:lnSpc>
              <a:spcBef>
                <a:spcPts val="0"/>
              </a:spcBef>
              <a:spcAft>
                <a:spcPts val="0"/>
              </a:spcAft>
              <a:buNone/>
            </a:pPr>
            <a:r>
              <a:t/>
            </a:r>
            <a:endParaRPr b="0" i="0" sz="1800" u="none" cap="none" strike="noStrike">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1800">
                <a:solidFill>
                  <a:srgbClr val="002C5C"/>
                </a:solidFill>
                <a:latin typeface="Poppins"/>
                <a:ea typeface="Poppins"/>
                <a:cs typeface="Poppins"/>
                <a:sym typeface="Poppins"/>
              </a:rPr>
              <a:t>Goal: </a:t>
            </a:r>
            <a:r>
              <a:rPr lang="en-US" sz="1800">
                <a:solidFill>
                  <a:srgbClr val="002C5C"/>
                </a:solidFill>
                <a:latin typeface="Poppins"/>
                <a:ea typeface="Poppins"/>
                <a:cs typeface="Poppins"/>
                <a:sym typeface="Poppins"/>
              </a:rPr>
              <a:t>The paid media campaign will amplify the brand’s presence by promoting key products, services, or messaging across multiple platforms. Using precision targeting, it will extend reach beyond owned and publisher audiences through programmatic display networks and video platforms, while social media channels will engage both broad and niche audience segments.</a:t>
            </a:r>
            <a:endParaRPr sz="1800">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1800">
              <a:solidFill>
                <a:srgbClr val="002C5C"/>
              </a:solidFill>
              <a:latin typeface="Poppins"/>
              <a:ea typeface="Poppins"/>
              <a:cs typeface="Poppins"/>
              <a:sym typeface="Poppins"/>
            </a:endParaRPr>
          </a:p>
          <a:p>
            <a:pPr indent="0" lvl="0" marL="0" rtl="0" algn="l">
              <a:spcBef>
                <a:spcPts val="0"/>
              </a:spcBef>
              <a:spcAft>
                <a:spcPts val="0"/>
              </a:spcAft>
              <a:buNone/>
            </a:pPr>
            <a:r>
              <a:rPr b="1" lang="en-US" sz="1800">
                <a:solidFill>
                  <a:srgbClr val="002C5C"/>
                </a:solidFill>
                <a:latin typeface="Poppins"/>
                <a:ea typeface="Poppins"/>
                <a:cs typeface="Poppins"/>
                <a:sym typeface="Poppins"/>
              </a:rPr>
              <a:t>Marketing Funnel Objective: </a:t>
            </a:r>
            <a:r>
              <a:rPr lang="en-US" sz="1800">
                <a:solidFill>
                  <a:srgbClr val="002C5C"/>
                </a:solidFill>
                <a:latin typeface="Poppins"/>
                <a:ea typeface="Poppins"/>
                <a:cs typeface="Poppins"/>
                <a:sym typeface="Poppins"/>
              </a:rPr>
              <a:t>Awareness, Consideration</a:t>
            </a:r>
            <a:endParaRPr sz="1800">
              <a:solidFill>
                <a:srgbClr val="002C5C"/>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0" i="0" sz="1800" u="none" cap="none" strike="noStrike">
              <a:solidFill>
                <a:srgbClr val="002C5C"/>
              </a:solidFill>
              <a:latin typeface="Poppins"/>
              <a:ea typeface="Poppins"/>
              <a:cs typeface="Poppins"/>
              <a:sym typeface="Poppins"/>
            </a:endParaRPr>
          </a:p>
        </p:txBody>
      </p:sp>
      <p:cxnSp>
        <p:nvCxnSpPr>
          <p:cNvPr id="351" name="Google Shape;351;p22"/>
          <p:cNvCxnSpPr/>
          <p:nvPr/>
        </p:nvCxnSpPr>
        <p:spPr>
          <a:xfrm>
            <a:off x="706659" y="4336048"/>
            <a:ext cx="9995100" cy="0"/>
          </a:xfrm>
          <a:prstGeom prst="straightConnector1">
            <a:avLst/>
          </a:prstGeom>
          <a:noFill/>
          <a:ln cap="rnd" cmpd="sng" w="9525">
            <a:solidFill>
              <a:srgbClr val="002C5C"/>
            </a:solidFill>
            <a:prstDash val="solid"/>
            <a:round/>
            <a:headEnd len="sm" w="sm" type="none"/>
            <a:tailEnd len="sm" w="sm" type="none"/>
          </a:ln>
        </p:spPr>
      </p:cxnSp>
      <p:cxnSp>
        <p:nvCxnSpPr>
          <p:cNvPr id="352" name="Google Shape;352;p22"/>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53" name="Google Shape;353;p22"/>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54" name="Google Shape;354;p22"/>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grpSp>
        <p:nvGrpSpPr>
          <p:cNvPr id="355" name="Google Shape;355;p22"/>
          <p:cNvGrpSpPr/>
          <p:nvPr/>
        </p:nvGrpSpPr>
        <p:grpSpPr>
          <a:xfrm>
            <a:off x="13309876" y="1990219"/>
            <a:ext cx="577850" cy="6667425"/>
            <a:chOff x="12308284" y="1990219"/>
            <a:chExt cx="577850" cy="6667425"/>
          </a:xfrm>
        </p:grpSpPr>
        <p:cxnSp>
          <p:nvCxnSpPr>
            <p:cNvPr id="356" name="Google Shape;356;p22"/>
            <p:cNvCxnSpPr/>
            <p:nvPr/>
          </p:nvCxnSpPr>
          <p:spPr>
            <a:xfrm>
              <a:off x="12606620" y="2247144"/>
              <a:ext cx="0" cy="6140700"/>
            </a:xfrm>
            <a:prstGeom prst="straightConnector1">
              <a:avLst/>
            </a:prstGeom>
            <a:noFill/>
            <a:ln cap="flat" cmpd="sng" w="50800">
              <a:solidFill>
                <a:srgbClr val="002C5C"/>
              </a:solidFill>
              <a:prstDash val="solid"/>
              <a:round/>
              <a:headEnd len="sm" w="sm" type="none"/>
              <a:tailEnd len="sm" w="sm" type="none"/>
            </a:ln>
          </p:spPr>
        </p:cxnSp>
        <p:sp>
          <p:nvSpPr>
            <p:cNvPr id="357" name="Google Shape;357;p22"/>
            <p:cNvSpPr/>
            <p:nvPr/>
          </p:nvSpPr>
          <p:spPr>
            <a:xfrm>
              <a:off x="12327334" y="1990219"/>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
            <p:cNvSpPr/>
            <p:nvPr/>
          </p:nvSpPr>
          <p:spPr>
            <a:xfrm>
              <a:off x="12308284" y="503823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8888"/>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12308547" y="809884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23"/>
          <p:cNvSpPr txBox="1"/>
          <p:nvPr/>
        </p:nvSpPr>
        <p:spPr>
          <a:xfrm>
            <a:off x="840575" y="2135997"/>
            <a:ext cx="123171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002C5C"/>
                </a:solidFill>
                <a:latin typeface="Poppins"/>
                <a:ea typeface="Poppins"/>
                <a:cs typeface="Poppins"/>
                <a:sym typeface="Poppins"/>
              </a:rPr>
              <a:t>Print delivers trusted, lasting impact in a tangible format that drives deeper engagement than digital alone. Readers spend quality time with content in a clutter-free environment, giving your brand visibility alongside credible journalism. With strong visuals, premium placement, and extended shelf life in homes and offices, print builds recognition well beyond publication day.</a:t>
            </a:r>
            <a:endParaRPr b="0" i="0" sz="2000" u="none" cap="none" strike="noStrike">
              <a:solidFill>
                <a:srgbClr val="002C5C"/>
              </a:solidFill>
              <a:latin typeface="Poppins"/>
              <a:ea typeface="Poppins"/>
              <a:cs typeface="Poppins"/>
              <a:sym typeface="Poppins"/>
            </a:endParaRPr>
          </a:p>
        </p:txBody>
      </p:sp>
      <p:sp>
        <p:nvSpPr>
          <p:cNvPr id="365" name="Google Shape;365;p23"/>
          <p:cNvSpPr txBox="1"/>
          <p:nvPr/>
        </p:nvSpPr>
        <p:spPr>
          <a:xfrm>
            <a:off x="840575" y="3755435"/>
            <a:ext cx="12889500" cy="324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Placement: {{Slide 10 Print Ads Titles}}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US" sz="2000">
                <a:solidFill>
                  <a:srgbClr val="002C5C"/>
                </a:solidFill>
                <a:latin typeface="Poppins"/>
                <a:ea typeface="Poppins"/>
                <a:cs typeface="Poppins"/>
                <a:sym typeface="Poppins"/>
              </a:rPr>
              <a:t>Goal: </a:t>
            </a:r>
            <a:r>
              <a:rPr lang="en-US" sz="2000">
                <a:solidFill>
                  <a:srgbClr val="002C5C"/>
                </a:solidFill>
                <a:latin typeface="Poppins"/>
                <a:ea typeface="Poppins"/>
                <a:cs typeface="Poppins"/>
                <a:sym typeface="Poppins"/>
              </a:rPr>
              <a:t>To leverage the credibility and wide reach of print media to showcase brand initiatives, impact, and storytelling in a trusted environment. Print acts as a strong foundation within a broader multi-channel campaign, reinforcing messaging across digital and social platforms. </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n-US" sz="2000">
                <a:solidFill>
                  <a:srgbClr val="002C5C"/>
                </a:solidFill>
                <a:latin typeface="Poppins"/>
                <a:ea typeface="Poppins"/>
                <a:cs typeface="Poppins"/>
                <a:sym typeface="Poppins"/>
              </a:rPr>
              <a:t>This integrated approach ensures consistent storytelling, maximises audience reach, and strengthens overall brand perception, highlighting the importance of multiple touchpoints in building awareness and trust.</a:t>
            </a:r>
            <a:endParaRPr sz="2000">
              <a:solidFill>
                <a:srgbClr val="002C5C"/>
              </a:solidFill>
              <a:latin typeface="Poppins"/>
              <a:ea typeface="Poppins"/>
              <a:cs typeface="Poppins"/>
              <a:sym typeface="Poppins"/>
            </a:endParaRPr>
          </a:p>
          <a:p>
            <a:pPr indent="0" lvl="0" marL="0" rtl="0" algn="l">
              <a:lnSpc>
                <a:spcPct val="115000"/>
              </a:lnSpc>
              <a:spcBef>
                <a:spcPts val="1200"/>
              </a:spcBef>
              <a:spcAft>
                <a:spcPts val="1200"/>
              </a:spcAft>
              <a:buClr>
                <a:schemeClr val="dk1"/>
              </a:buClr>
              <a:buSzPts val="1100"/>
              <a:buFont typeface="Arial"/>
              <a:buNone/>
            </a:pPr>
            <a:r>
              <a:rPr b="1" lang="en-US" sz="2000">
                <a:solidFill>
                  <a:srgbClr val="002C5C"/>
                </a:solidFill>
                <a:latin typeface="Poppins"/>
                <a:ea typeface="Poppins"/>
                <a:cs typeface="Poppins"/>
                <a:sym typeface="Poppins"/>
              </a:rPr>
              <a:t>Marketing Funnel Objective: </a:t>
            </a:r>
            <a:r>
              <a:rPr lang="en-US" sz="2000">
                <a:solidFill>
                  <a:srgbClr val="002C5C"/>
                </a:solidFill>
                <a:latin typeface="Poppins"/>
                <a:ea typeface="Poppins"/>
                <a:cs typeface="Poppins"/>
                <a:sym typeface="Poppins"/>
              </a:rPr>
              <a:t>Awareness</a:t>
            </a:r>
            <a:endParaRPr sz="2000">
              <a:solidFill>
                <a:srgbClr val="002C5C"/>
              </a:solidFill>
              <a:latin typeface="Poppins"/>
              <a:ea typeface="Poppins"/>
              <a:cs typeface="Poppins"/>
              <a:sym typeface="Poppins"/>
            </a:endParaRPr>
          </a:p>
        </p:txBody>
      </p:sp>
      <p:cxnSp>
        <p:nvCxnSpPr>
          <p:cNvPr id="366" name="Google Shape;366;p23"/>
          <p:cNvCxnSpPr/>
          <p:nvPr/>
        </p:nvCxnSpPr>
        <p:spPr>
          <a:xfrm flipH="1" rot="10800000">
            <a:off x="706659" y="3508113"/>
            <a:ext cx="12633600" cy="8100"/>
          </a:xfrm>
          <a:prstGeom prst="straightConnector1">
            <a:avLst/>
          </a:prstGeom>
          <a:noFill/>
          <a:ln cap="rnd" cmpd="sng" w="9525">
            <a:solidFill>
              <a:srgbClr val="002C5C"/>
            </a:solidFill>
            <a:prstDash val="solid"/>
            <a:round/>
            <a:headEnd len="sm" w="sm" type="none"/>
            <a:tailEnd len="sm" w="sm" type="none"/>
          </a:ln>
        </p:spPr>
      </p:cxnSp>
      <p:sp>
        <p:nvSpPr>
          <p:cNvPr id="367" name="Google Shape;367;p23"/>
          <p:cNvSpPr txBox="1"/>
          <p:nvPr/>
        </p:nvSpPr>
        <p:spPr>
          <a:xfrm>
            <a:off x="840572" y="680250"/>
            <a:ext cx="8957400" cy="1308300"/>
          </a:xfrm>
          <a:prstGeom prst="rect">
            <a:avLst/>
          </a:prstGeom>
          <a:noFill/>
          <a:ln>
            <a:noFill/>
          </a:ln>
        </p:spPr>
        <p:txBody>
          <a:bodyPr anchorCtr="0" anchor="t" bIns="0" lIns="0" spcFirstLastPara="1" rIns="0" wrap="square" tIns="0">
            <a:spAutoFit/>
          </a:bodyPr>
          <a:lstStyle/>
          <a:p>
            <a:pPr indent="0" lvl="0" marL="0" marR="0" rtl="0" algn="l">
              <a:lnSpc>
                <a:spcPct val="84998"/>
              </a:lnSpc>
              <a:spcBef>
                <a:spcPts val="0"/>
              </a:spcBef>
              <a:spcAft>
                <a:spcPts val="0"/>
              </a:spcAft>
              <a:buNone/>
            </a:pPr>
            <a:r>
              <a:rPr i="0" lang="en-US" sz="9999" u="none" cap="none" strike="noStrike">
                <a:solidFill>
                  <a:srgbClr val="002C5C"/>
                </a:solidFill>
                <a:latin typeface="Anton"/>
                <a:ea typeface="Anton"/>
                <a:cs typeface="Anton"/>
                <a:sym typeface="Anton"/>
              </a:rPr>
              <a:t>PRINT</a:t>
            </a:r>
            <a:r>
              <a:rPr i="0" lang="en-US" sz="9999" u="none" cap="none" strike="noStrike">
                <a:solidFill>
                  <a:srgbClr val="FCFCFC"/>
                </a:solidFill>
                <a:latin typeface="Anton"/>
                <a:ea typeface="Anton"/>
                <a:cs typeface="Anton"/>
                <a:sym typeface="Anton"/>
              </a:rPr>
              <a:t> </a:t>
            </a:r>
            <a:r>
              <a:rPr i="0" lang="en-US" sz="9999" u="none" cap="none" strike="noStrike">
                <a:solidFill>
                  <a:srgbClr val="888888"/>
                </a:solidFill>
                <a:latin typeface="Anton"/>
                <a:ea typeface="Anton"/>
                <a:cs typeface="Anton"/>
                <a:sym typeface="Anton"/>
              </a:rPr>
              <a:t>ADVERTISING </a:t>
            </a:r>
            <a:endParaRPr>
              <a:solidFill>
                <a:schemeClr val="lt1"/>
              </a:solidFill>
              <a:latin typeface="Anton"/>
              <a:ea typeface="Anton"/>
              <a:cs typeface="Anton"/>
              <a:sym typeface="Anton"/>
            </a:endParaRPr>
          </a:p>
        </p:txBody>
      </p:sp>
      <p:cxnSp>
        <p:nvCxnSpPr>
          <p:cNvPr id="368" name="Google Shape;368;p23"/>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69" name="Google Shape;369;p23"/>
          <p:cNvSpPr txBox="1"/>
          <p:nvPr/>
        </p:nvSpPr>
        <p:spPr>
          <a:xfrm>
            <a:off x="14766825" y="2059800"/>
            <a:ext cx="31224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800">
                <a:solidFill>
                  <a:srgbClr val="002C5C"/>
                </a:solidFill>
                <a:latin typeface="Poppins"/>
                <a:ea typeface="Poppins"/>
                <a:cs typeface="Poppins"/>
                <a:sym typeface="Poppins"/>
              </a:rPr>
              <a:t>Ad Placement</a:t>
            </a:r>
            <a:endParaRPr b="1" sz="1800">
              <a:solidFill>
                <a:srgbClr val="002C5C"/>
              </a:solidFill>
              <a:latin typeface="Poppins"/>
              <a:ea typeface="Poppins"/>
              <a:cs typeface="Poppins"/>
              <a:sym typeface="Poppins"/>
            </a:endParaRPr>
          </a:p>
          <a:p>
            <a:pPr indent="0" lvl="0" marL="0" marR="0" rtl="0" algn="l">
              <a:lnSpc>
                <a:spcPct val="140000"/>
              </a:lnSpc>
              <a:spcBef>
                <a:spcPts val="0"/>
              </a:spcBef>
              <a:spcAft>
                <a:spcPts val="0"/>
              </a:spcAft>
              <a:buNone/>
            </a:pPr>
            <a:r>
              <a:rPr lang="en-US" sz="1800">
                <a:solidFill>
                  <a:srgbClr val="002C5C"/>
                </a:solidFill>
                <a:latin typeface="Poppins"/>
                <a:ea typeface="Poppins"/>
                <a:cs typeface="Poppins"/>
                <a:sym typeface="Poppins"/>
              </a:rPr>
              <a:t>{{Slide 10 Print Ad Sizes}}                                                     </a:t>
            </a:r>
            <a:endParaRPr sz="1800">
              <a:solidFill>
                <a:srgbClr val="002C5C"/>
              </a:solidFill>
              <a:latin typeface="Poppins"/>
              <a:ea typeface="Poppins"/>
              <a:cs typeface="Poppins"/>
              <a:sym typeface="Poppins"/>
            </a:endParaRPr>
          </a:p>
          <a:p>
            <a:pPr indent="0" lvl="0" marL="0" marR="0" rtl="0" algn="l">
              <a:lnSpc>
                <a:spcPct val="140000"/>
              </a:lnSpc>
              <a:spcBef>
                <a:spcPts val="0"/>
              </a:spcBef>
              <a:spcAft>
                <a:spcPts val="0"/>
              </a:spcAft>
              <a:buNone/>
            </a:pPr>
            <a:r>
              <a:t/>
            </a:r>
            <a:endParaRPr sz="1800">
              <a:solidFill>
                <a:srgbClr val="002C5C"/>
              </a:solidFill>
              <a:latin typeface="Poppins"/>
              <a:ea typeface="Poppins"/>
              <a:cs typeface="Poppins"/>
              <a:sym typeface="Poppins"/>
            </a:endParaRPr>
          </a:p>
        </p:txBody>
      </p:sp>
      <p:sp>
        <p:nvSpPr>
          <p:cNvPr id="370" name="Google Shape;370;p23"/>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71" name="Google Shape;371;p23"/>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grpSp>
        <p:nvGrpSpPr>
          <p:cNvPr id="372" name="Google Shape;372;p23"/>
          <p:cNvGrpSpPr/>
          <p:nvPr/>
        </p:nvGrpSpPr>
        <p:grpSpPr>
          <a:xfrm>
            <a:off x="13908509" y="1768032"/>
            <a:ext cx="577850" cy="6667425"/>
            <a:chOff x="12308284" y="1990219"/>
            <a:chExt cx="577850" cy="6667425"/>
          </a:xfrm>
        </p:grpSpPr>
        <p:cxnSp>
          <p:nvCxnSpPr>
            <p:cNvPr id="373" name="Google Shape;373;p23"/>
            <p:cNvCxnSpPr/>
            <p:nvPr/>
          </p:nvCxnSpPr>
          <p:spPr>
            <a:xfrm>
              <a:off x="12606620" y="2247144"/>
              <a:ext cx="0" cy="6140700"/>
            </a:xfrm>
            <a:prstGeom prst="straightConnector1">
              <a:avLst/>
            </a:prstGeom>
            <a:noFill/>
            <a:ln cap="flat" cmpd="sng" w="50800">
              <a:solidFill>
                <a:srgbClr val="002C5C"/>
              </a:solidFill>
              <a:prstDash val="solid"/>
              <a:round/>
              <a:headEnd len="sm" w="sm" type="none"/>
              <a:tailEnd len="sm" w="sm" type="none"/>
            </a:ln>
          </p:spPr>
        </p:cxnSp>
        <p:sp>
          <p:nvSpPr>
            <p:cNvPr id="374" name="Google Shape;374;p23"/>
            <p:cNvSpPr/>
            <p:nvPr/>
          </p:nvSpPr>
          <p:spPr>
            <a:xfrm>
              <a:off x="12327334" y="1990219"/>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3"/>
            <p:cNvSpPr/>
            <p:nvPr/>
          </p:nvSpPr>
          <p:spPr>
            <a:xfrm>
              <a:off x="12308284" y="503823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8888"/>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3"/>
            <p:cNvSpPr/>
            <p:nvPr/>
          </p:nvSpPr>
          <p:spPr>
            <a:xfrm>
              <a:off x="12308547" y="8098844"/>
              <a:ext cx="558800" cy="558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C5C"/>
            </a:solid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 name="Shape 380"/>
        <p:cNvGrpSpPr/>
        <p:nvPr/>
      </p:nvGrpSpPr>
      <p:grpSpPr>
        <a:xfrm>
          <a:off x="0" y="0"/>
          <a:ext cx="0" cy="0"/>
          <a:chOff x="0" y="0"/>
          <a:chExt cx="0" cy="0"/>
        </a:xfrm>
      </p:grpSpPr>
      <p:sp>
        <p:nvSpPr>
          <p:cNvPr id="381" name="Google Shape;381;p24"/>
          <p:cNvSpPr txBox="1"/>
          <p:nvPr/>
        </p:nvSpPr>
        <p:spPr>
          <a:xfrm>
            <a:off x="1073113" y="817863"/>
            <a:ext cx="10981200" cy="1277400"/>
          </a:xfrm>
          <a:prstGeom prst="rect">
            <a:avLst/>
          </a:prstGeom>
          <a:noFill/>
          <a:ln>
            <a:noFill/>
          </a:ln>
        </p:spPr>
        <p:txBody>
          <a:bodyPr anchorCtr="0" anchor="t" bIns="0" lIns="0" spcFirstLastPara="1" rIns="0" wrap="square" tIns="0">
            <a:spAutoFit/>
          </a:bodyPr>
          <a:lstStyle/>
          <a:p>
            <a:pPr indent="0" lvl="0" marL="0" marR="0" rtl="0" algn="l">
              <a:lnSpc>
                <a:spcPct val="82998"/>
              </a:lnSpc>
              <a:spcBef>
                <a:spcPts val="0"/>
              </a:spcBef>
              <a:spcAft>
                <a:spcPts val="0"/>
              </a:spcAft>
              <a:buNone/>
            </a:pPr>
            <a:r>
              <a:rPr lang="en-US" sz="9999">
                <a:solidFill>
                  <a:srgbClr val="002C5C"/>
                </a:solidFill>
                <a:latin typeface="Anton"/>
                <a:ea typeface="Anton"/>
                <a:cs typeface="Anton"/>
                <a:sym typeface="Anton"/>
              </a:rPr>
              <a:t>INVESTMENT</a:t>
            </a:r>
            <a:endParaRPr>
              <a:solidFill>
                <a:srgbClr val="002C5C"/>
              </a:solidFill>
              <a:latin typeface="Anton"/>
              <a:ea typeface="Anton"/>
              <a:cs typeface="Anton"/>
              <a:sym typeface="Anton"/>
            </a:endParaRPr>
          </a:p>
        </p:txBody>
      </p:sp>
      <p:graphicFrame>
        <p:nvGraphicFramePr>
          <p:cNvPr id="382" name="Google Shape;382;p24"/>
          <p:cNvGraphicFramePr/>
          <p:nvPr/>
        </p:nvGraphicFramePr>
        <p:xfrm>
          <a:off x="1202525" y="2301438"/>
          <a:ext cx="3000000" cy="3000000"/>
        </p:xfrm>
        <a:graphic>
          <a:graphicData uri="http://schemas.openxmlformats.org/drawingml/2006/table">
            <a:tbl>
              <a:tblPr>
                <a:noFill/>
                <a:tableStyleId>{2B5346E1-113A-43CB-8332-7ED7E3ED4B38}</a:tableStyleId>
              </a:tblPr>
              <a:tblGrid>
                <a:gridCol w="2520050"/>
                <a:gridCol w="5061850"/>
                <a:gridCol w="5372100"/>
                <a:gridCol w="3429000"/>
              </a:tblGrid>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PRODUCT</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PLACEMENT</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QUANTITY</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RATE</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Display</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6 Display Site Placement}}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Display Site Placement Quantity}}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Display Rate}}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Content Marketing</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7 Content Placement}}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Content Quantity}}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700">
                          <a:solidFill>
                            <a:schemeClr val="dk1"/>
                          </a:solidFill>
                          <a:latin typeface="Poppins"/>
                          <a:ea typeface="Poppins"/>
                          <a:cs typeface="Poppins"/>
                          <a:sym typeface="Poppins"/>
                        </a:rPr>
                        <a:t>{{Slide 11 Content Rate}}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marR="0" rtl="0" algn="l">
                        <a:lnSpc>
                          <a:spcPct val="100000"/>
                        </a:lnSpc>
                        <a:spcBef>
                          <a:spcPts val="0"/>
                        </a:spcBef>
                        <a:spcAft>
                          <a:spcPts val="0"/>
                        </a:spcAft>
                        <a:buNone/>
                      </a:pPr>
                      <a:r>
                        <a:rPr b="1" lang="en-US" sz="1700">
                          <a:solidFill>
                            <a:srgbClr val="002C5C"/>
                          </a:solidFill>
                          <a:latin typeface="Poppins"/>
                          <a:ea typeface="Poppins"/>
                          <a:cs typeface="Poppins"/>
                          <a:sym typeface="Poppins"/>
                        </a:rPr>
                        <a:t>Social Media </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Organic Placement on {{Slide 8 Social Media Placement}}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Social Media Organic Posts Quantity}}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700">
                          <a:solidFill>
                            <a:schemeClr val="dk1"/>
                          </a:solidFill>
                          <a:latin typeface="Poppins"/>
                          <a:ea typeface="Poppins"/>
                          <a:cs typeface="Poppins"/>
                          <a:sym typeface="Poppins"/>
                        </a:rPr>
                        <a:t>{{Slide 11 Social Media Rate}}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marR="0" rtl="0" algn="l">
                        <a:lnSpc>
                          <a:spcPct val="100000"/>
                        </a:lnSpc>
                        <a:spcBef>
                          <a:spcPts val="0"/>
                        </a:spcBef>
                        <a:spcAft>
                          <a:spcPts val="0"/>
                        </a:spcAft>
                        <a:buNone/>
                      </a:pPr>
                      <a:r>
                        <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Boosting</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Social Boosting Amount}}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marR="0" rtl="0" algn="l">
                        <a:lnSpc>
                          <a:spcPct val="100000"/>
                        </a:lnSpc>
                        <a:spcBef>
                          <a:spcPts val="0"/>
                        </a:spcBef>
                        <a:spcAft>
                          <a:spcPts val="0"/>
                        </a:spcAft>
                        <a:buNone/>
                      </a:pPr>
                      <a:r>
                        <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700">
                          <a:solidFill>
                            <a:schemeClr val="dk1"/>
                          </a:solidFill>
                          <a:latin typeface="Poppins"/>
                          <a:ea typeface="Poppins"/>
                          <a:cs typeface="Poppins"/>
                          <a:sym typeface="Poppins"/>
                        </a:rPr>
                        <a:t>30% Management Fee of Boosting amount</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Social Media Management Fee}}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Paid Media</a:t>
                      </a:r>
                      <a:endParaRPr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9 Paid Media Placement}}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Per month</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Paid Media Amount}}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Setup Costs (Once off)</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Paid Media Accounts Quantity}}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Paid Media Setup Cost}}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30% Management Fee</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per month</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Paid Media Management Fee}}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Print</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10 Print Ads Titles}}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{{Slide 11 Print Ads Quantity}}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lang="en-US" sz="1700">
                          <a:latin typeface="Poppins"/>
                          <a:ea typeface="Poppins"/>
                          <a:cs typeface="Poppins"/>
                          <a:sym typeface="Poppins"/>
                        </a:rPr>
                        <a:t>{{ Slide 11 Print Ads Rate}}                                                    </a:t>
                      </a:r>
                      <a:endParaRPr sz="1700">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39750">
                <a:tc>
                  <a:txBody>
                    <a:bodyPr/>
                    <a:lstStyle/>
                    <a:p>
                      <a:pPr indent="0" lvl="0" marL="0" rtl="0" algn="l">
                        <a:spcBef>
                          <a:spcPts val="0"/>
                        </a:spcBef>
                        <a:spcAft>
                          <a:spcPts val="0"/>
                        </a:spcAft>
                        <a:buNone/>
                      </a:pPr>
                      <a:r>
                        <a:rPr b="1" lang="en-US" sz="1700">
                          <a:solidFill>
                            <a:srgbClr val="002C5C"/>
                          </a:solidFill>
                          <a:latin typeface="Poppins"/>
                          <a:ea typeface="Poppins"/>
                          <a:cs typeface="Poppins"/>
                          <a:sym typeface="Poppins"/>
                        </a:rPr>
                        <a:t>TOTAL</a:t>
                      </a:r>
                      <a:endParaRPr b="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rPr i="1" lang="en-US" sz="1700">
                          <a:solidFill>
                            <a:srgbClr val="002C5C"/>
                          </a:solidFill>
                          <a:latin typeface="Poppins"/>
                          <a:ea typeface="Poppins"/>
                          <a:cs typeface="Poppins"/>
                          <a:sym typeface="Poppins"/>
                        </a:rPr>
                        <a:t>excluding VAT</a:t>
                      </a:r>
                      <a:endParaRPr i="1"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None/>
                      </a:pPr>
                      <a:r>
                        <a:t/>
                      </a:r>
                      <a:endParaRPr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700">
                          <a:solidFill>
                            <a:schemeClr val="dk1"/>
                          </a:solidFill>
                          <a:latin typeface="Poppins"/>
                          <a:ea typeface="Poppins"/>
                          <a:cs typeface="Poppins"/>
                          <a:sym typeface="Poppins"/>
                        </a:rPr>
                        <a:t>{{ Slide 11 Print Total quote amount}}                                          </a:t>
                      </a:r>
                      <a:endParaRPr sz="1700">
                        <a:solidFill>
                          <a:srgbClr val="002C5C"/>
                        </a:solidFill>
                        <a:latin typeface="Poppins"/>
                        <a:ea typeface="Poppins"/>
                        <a:cs typeface="Poppins"/>
                        <a:sym typeface="Poppins"/>
                      </a:endParaRPr>
                    </a:p>
                  </a:txBody>
                  <a:tcPr marT="91425" marB="91425" marR="91425" marL="91425">
                    <a:lnL cap="flat" cmpd="sng" w="19050">
                      <a:solidFill>
                        <a:schemeClr val="lt2"/>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bl>
          </a:graphicData>
        </a:graphic>
      </p:graphicFrame>
      <p:cxnSp>
        <p:nvCxnSpPr>
          <p:cNvPr id="383" name="Google Shape;383;p24"/>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84" name="Google Shape;384;p24"/>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85" name="Google Shape;385;p24"/>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sp>
        <p:nvSpPr>
          <p:cNvPr id="390" name="Google Shape;390;p25"/>
          <p:cNvSpPr txBox="1"/>
          <p:nvPr/>
        </p:nvSpPr>
        <p:spPr>
          <a:xfrm>
            <a:off x="2146207" y="4229361"/>
            <a:ext cx="13995600" cy="1916400"/>
          </a:xfrm>
          <a:prstGeom prst="rect">
            <a:avLst/>
          </a:prstGeom>
          <a:noFill/>
          <a:ln>
            <a:noFill/>
          </a:ln>
        </p:spPr>
        <p:txBody>
          <a:bodyPr anchorCtr="0" anchor="t" bIns="0" lIns="0" spcFirstLastPara="1" rIns="0" wrap="square" tIns="0">
            <a:spAutoFit/>
          </a:bodyPr>
          <a:lstStyle/>
          <a:p>
            <a:pPr indent="0" lvl="0" marL="0" marR="0" rtl="0" algn="ctr">
              <a:lnSpc>
                <a:spcPct val="83000"/>
              </a:lnSpc>
              <a:spcBef>
                <a:spcPts val="0"/>
              </a:spcBef>
              <a:spcAft>
                <a:spcPts val="0"/>
              </a:spcAft>
              <a:buNone/>
            </a:pPr>
            <a:r>
              <a:rPr i="0" lang="en-US" sz="15000" u="none" cap="none" strike="noStrike">
                <a:solidFill>
                  <a:srgbClr val="002C5C"/>
                </a:solidFill>
                <a:latin typeface="Anton"/>
                <a:ea typeface="Anton"/>
                <a:cs typeface="Anton"/>
                <a:sym typeface="Anton"/>
              </a:rPr>
              <a:t>THANK YOU</a:t>
            </a:r>
            <a:endParaRPr>
              <a:solidFill>
                <a:srgbClr val="002C5C"/>
              </a:solidFill>
              <a:latin typeface="Anton"/>
              <a:ea typeface="Anton"/>
              <a:cs typeface="Anton"/>
              <a:sym typeface="Anton"/>
            </a:endParaRPr>
          </a:p>
        </p:txBody>
      </p:sp>
      <p:sp>
        <p:nvSpPr>
          <p:cNvPr id="391" name="Google Shape;391;p25"/>
          <p:cNvSpPr txBox="1"/>
          <p:nvPr/>
        </p:nvSpPr>
        <p:spPr>
          <a:xfrm>
            <a:off x="3364640" y="6976747"/>
            <a:ext cx="11558700" cy="1619700"/>
          </a:xfrm>
          <a:prstGeom prst="rect">
            <a:avLst/>
          </a:prstGeom>
          <a:noFill/>
          <a:ln>
            <a:noFill/>
          </a:ln>
        </p:spPr>
        <p:txBody>
          <a:bodyPr anchorCtr="0" anchor="t" bIns="0" lIns="0" spcFirstLastPara="1" rIns="0" wrap="square" tIns="0">
            <a:spAutoFit/>
          </a:bodyPr>
          <a:lstStyle/>
          <a:p>
            <a:pPr indent="0" lvl="0" marL="0" marR="0" rtl="0" algn="ctr">
              <a:lnSpc>
                <a:spcPct val="125011"/>
              </a:lnSpc>
              <a:spcBef>
                <a:spcPts val="0"/>
              </a:spcBef>
              <a:spcAft>
                <a:spcPts val="0"/>
              </a:spcAft>
              <a:buNone/>
            </a:pPr>
            <a:r>
              <a:rPr b="0" i="0" lang="en-US" sz="2215" u="none" cap="none" strike="noStrike">
                <a:solidFill>
                  <a:srgbClr val="002C5C"/>
                </a:solidFill>
                <a:latin typeface="Poppins"/>
                <a:ea typeface="Poppins"/>
                <a:cs typeface="Poppins"/>
                <a:sym typeface="Poppins"/>
              </a:rPr>
              <a:t>Note: This proposal is based on the brief we received, and should the brief evolve, the quotation and recommendations will adapt accordingly. All strategic ideas and frameworks shared remain the property of Volt and are intended exclusively for this collaboration.</a:t>
            </a:r>
            <a:endParaRPr>
              <a:solidFill>
                <a:srgbClr val="002C5C"/>
              </a:solidFill>
            </a:endParaRPr>
          </a:p>
        </p:txBody>
      </p:sp>
      <p:cxnSp>
        <p:nvCxnSpPr>
          <p:cNvPr id="392" name="Google Shape;392;p25"/>
          <p:cNvCxnSpPr/>
          <p:nvPr/>
        </p:nvCxnSpPr>
        <p:spPr>
          <a:xfrm rot="3889">
            <a:off x="790570" y="9277891"/>
            <a:ext cx="16707011" cy="0"/>
          </a:xfrm>
          <a:prstGeom prst="straightConnector1">
            <a:avLst/>
          </a:prstGeom>
          <a:noFill/>
          <a:ln cap="rnd" cmpd="sng" w="9525">
            <a:solidFill>
              <a:srgbClr val="002C5C"/>
            </a:solidFill>
            <a:prstDash val="solid"/>
            <a:round/>
            <a:headEnd len="sm" w="sm" type="none"/>
            <a:tailEnd len="sm" w="sm" type="none"/>
          </a:ln>
        </p:spPr>
      </p:cxnSp>
      <p:sp>
        <p:nvSpPr>
          <p:cNvPr id="393" name="Google Shape;393;p25"/>
          <p:cNvSpPr txBox="1"/>
          <p:nvPr/>
        </p:nvSpPr>
        <p:spPr>
          <a:xfrm>
            <a:off x="840582" y="9532805"/>
            <a:ext cx="7044000" cy="215400"/>
          </a:xfrm>
          <a:prstGeom prst="rect">
            <a:avLst/>
          </a:prstGeom>
          <a:noFill/>
          <a:ln>
            <a:noFill/>
          </a:ln>
        </p:spPr>
        <p:txBody>
          <a:bodyPr anchorCtr="0" anchor="t" bIns="0" lIns="0" spcFirstLastPara="1" rIns="0" wrap="square" tIns="0">
            <a:spAutoFit/>
          </a:bodyPr>
          <a:lstStyle/>
          <a:p>
            <a:pPr indent="0" lvl="0" marL="0" marR="0" rtl="0" algn="l">
              <a:lnSpc>
                <a:spcPct val="168048"/>
              </a:lnSpc>
              <a:spcBef>
                <a:spcPts val="0"/>
              </a:spcBef>
              <a:spcAft>
                <a:spcPts val="0"/>
              </a:spcAft>
              <a:buNone/>
            </a:pPr>
            <a:r>
              <a:rPr b="1" i="0" lang="en-US" sz="1399" u="sng" cap="none" strike="noStrike">
                <a:solidFill>
                  <a:srgbClr val="002C5C"/>
                </a:solidFill>
                <a:latin typeface="Poppins Medium"/>
                <a:ea typeface="Poppins Medium"/>
                <a:cs typeface="Poppins Medium"/>
                <a:sym typeface="Poppins Medium"/>
                <a:hlinkClick r:id="rId3">
                  <a:extLst>
                    <a:ext uri="{A12FA001-AC4F-418D-AE19-62706E023703}">
                      <ahyp:hlinkClr val="tx"/>
                    </a:ext>
                  </a:extLst>
                </a:hlinkClick>
              </a:rPr>
              <a:t>WWWW.VOLT.AFRICA</a:t>
            </a:r>
            <a:r>
              <a:rPr b="1" i="0" lang="en-US" sz="1399" u="none" cap="none" strike="noStrike">
                <a:solidFill>
                  <a:srgbClr val="002C5C"/>
                </a:solidFill>
                <a:latin typeface="Poppins Medium"/>
                <a:ea typeface="Poppins Medium"/>
                <a:cs typeface="Poppins Medium"/>
                <a:sym typeface="Poppins Medium"/>
              </a:rPr>
              <a:t> | POWER YOUR DIGITAL AMBITION</a:t>
            </a:r>
            <a:endParaRPr>
              <a:solidFill>
                <a:srgbClr val="002C5C"/>
              </a:solidFill>
            </a:endParaRPr>
          </a:p>
        </p:txBody>
      </p:sp>
      <p:pic>
        <p:nvPicPr>
          <p:cNvPr id="394" name="Google Shape;394;p25"/>
          <p:cNvPicPr preferRelativeResize="0"/>
          <p:nvPr/>
        </p:nvPicPr>
        <p:blipFill rotWithShape="1">
          <a:blip r:embed="rId4">
            <a:alphaModFix/>
          </a:blip>
          <a:srcRect b="0" l="0" r="0" t="0"/>
          <a:stretch/>
        </p:blipFill>
        <p:spPr>
          <a:xfrm>
            <a:off x="15249232" y="9523939"/>
            <a:ext cx="2496875" cy="469534"/>
          </a:xfrm>
          <a:prstGeom prst="rect">
            <a:avLst/>
          </a:prstGeom>
          <a:noFill/>
          <a:ln>
            <a:noFill/>
          </a:ln>
        </p:spPr>
      </p:pic>
      <p:sp>
        <p:nvSpPr>
          <p:cNvPr id="395" name="Google Shape;395;p25"/>
          <p:cNvSpPr/>
          <p:nvPr/>
        </p:nvSpPr>
        <p:spPr>
          <a:xfrm>
            <a:off x="14935175" y="-3483125"/>
            <a:ext cx="5780100" cy="5778300"/>
          </a:xfrm>
          <a:prstGeom prst="ellipse">
            <a:avLst/>
          </a:prstGeom>
          <a:noFill/>
          <a:ln cap="flat" cmpd="sng" w="9525">
            <a:solidFill>
              <a:srgbClr val="002C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25"/>
          <p:cNvSpPr txBox="1"/>
          <p:nvPr/>
        </p:nvSpPr>
        <p:spPr>
          <a:xfrm>
            <a:off x="5947025" y="5988200"/>
            <a:ext cx="64008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200">
                <a:solidFill>
                  <a:schemeClr val="dk1"/>
                </a:solidFill>
                <a:latin typeface="Poppins"/>
                <a:ea typeface="Poppins"/>
                <a:cs typeface="Poppins"/>
                <a:sym typeface="Poppins"/>
              </a:rPr>
              <a:t>{{Rep Name}}                                                                    </a:t>
            </a:r>
            <a:endParaRPr sz="3200">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